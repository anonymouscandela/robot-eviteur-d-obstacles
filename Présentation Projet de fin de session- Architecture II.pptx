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 id="267" r:id="rId8"/>
    <p:sldId id="264" r:id="rId9"/>
    <p:sldId id="266" r:id="rId10"/>
    <p:sldId id="268" r:id="rId11"/>
    <p:sldId id="269" r:id="rId12"/>
    <p:sldId id="270" r:id="rId13"/>
    <p:sldId id="271" r:id="rId14"/>
    <p:sldId id="272" r:id="rId15"/>
    <p:sldId id="273" r:id="rId16"/>
    <p:sldId id="274" r:id="rId17"/>
    <p:sldId id="275" r:id="rId18"/>
    <p:sldId id="276" r:id="rId19"/>
    <p:sldId id="277" r:id="rId20"/>
    <p:sldId id="278" r:id="rId21"/>
    <p:sldId id="265" r:id="rId22"/>
    <p:sldId id="262" r:id="rId23"/>
    <p:sldId id="263" r:id="rId24"/>
    <p:sldId id="279"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E0566B-BBFD-4CF2-A3A2-A24B9A517E7A}" v="4" dt="2024-04-22T18:34:08.8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éa Tahoc" userId="bd9b6d95c0cce71f" providerId="LiveId" clId="{ABE0566B-BBFD-4CF2-A3A2-A24B9A517E7A}"/>
    <pc:docChg chg="undo custSel addSld modSld">
      <pc:chgData name="Léa Tahoc" userId="bd9b6d95c0cce71f" providerId="LiveId" clId="{ABE0566B-BBFD-4CF2-A3A2-A24B9A517E7A}" dt="2024-04-22T18:37:52.204" v="43" actId="20577"/>
      <pc:docMkLst>
        <pc:docMk/>
      </pc:docMkLst>
      <pc:sldChg chg="addSp modSp new mod">
        <pc:chgData name="Léa Tahoc" userId="bd9b6d95c0cce71f" providerId="LiveId" clId="{ABE0566B-BBFD-4CF2-A3A2-A24B9A517E7A}" dt="2024-04-22T18:37:52.204" v="43" actId="20577"/>
        <pc:sldMkLst>
          <pc:docMk/>
          <pc:sldMk cId="1136714045" sldId="279"/>
        </pc:sldMkLst>
        <pc:spChg chg="add mod">
          <ac:chgData name="Léa Tahoc" userId="bd9b6d95c0cce71f" providerId="LiveId" clId="{ABE0566B-BBFD-4CF2-A3A2-A24B9A517E7A}" dt="2024-04-22T18:34:00.561" v="24" actId="122"/>
          <ac:spMkLst>
            <pc:docMk/>
            <pc:sldMk cId="1136714045" sldId="279"/>
            <ac:spMk id="6" creationId="{1D2392A0-F26B-7B1E-3E5E-D5EB646A1C01}"/>
          </ac:spMkLst>
        </pc:spChg>
        <pc:spChg chg="add mod">
          <ac:chgData name="Léa Tahoc" userId="bd9b6d95c0cce71f" providerId="LiveId" clId="{ABE0566B-BBFD-4CF2-A3A2-A24B9A517E7A}" dt="2024-04-22T18:37:52.204" v="43" actId="20577"/>
          <ac:spMkLst>
            <pc:docMk/>
            <pc:sldMk cId="1136714045" sldId="279"/>
            <ac:spMk id="7" creationId="{0E36152F-EB78-E6EC-FB25-95E03282A1E4}"/>
          </ac:spMkLst>
        </pc:spChg>
        <pc:picChg chg="add mod">
          <ac:chgData name="Léa Tahoc" userId="bd9b6d95c0cce71f" providerId="LiveId" clId="{ABE0566B-BBFD-4CF2-A3A2-A24B9A517E7A}" dt="2024-04-22T18:32:40.208" v="6" actId="1076"/>
          <ac:picMkLst>
            <pc:docMk/>
            <pc:sldMk cId="1136714045" sldId="279"/>
            <ac:picMk id="3" creationId="{4401D4B2-0DFB-8E42-0B53-22F245575510}"/>
          </ac:picMkLst>
        </pc:picChg>
        <pc:cxnChg chg="add mod">
          <ac:chgData name="Léa Tahoc" userId="bd9b6d95c0cce71f" providerId="LiveId" clId="{ABE0566B-BBFD-4CF2-A3A2-A24B9A517E7A}" dt="2024-04-22T18:33:06.791" v="9" actId="208"/>
          <ac:cxnSpMkLst>
            <pc:docMk/>
            <pc:sldMk cId="1136714045" sldId="279"/>
            <ac:cxnSpMk id="5" creationId="{48C5F3CD-C7C3-4341-8FC8-4374BE59F57C}"/>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D0A9F4-9362-CA6E-A95E-E131E279596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78398129-F61F-7659-4918-C354971F33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F2391F38-9864-629D-8CAF-17817EF5C833}"/>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5" name="Espace réservé du pied de page 4">
            <a:extLst>
              <a:ext uri="{FF2B5EF4-FFF2-40B4-BE49-F238E27FC236}">
                <a16:creationId xmlns:a16="http://schemas.microsoft.com/office/drawing/2014/main" id="{0857713A-B914-6B0D-4E4B-F2D5A3D3A67C}"/>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D77C0D30-6B41-051D-AC57-548F9ADFA738}"/>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4034138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67CF10-2224-B444-B843-011CEE87942A}"/>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0C2A1EFD-8929-34EB-F22E-AD2CC5C7C87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3ACE5A0-48CC-1A10-EB8C-91E0FC157DBD}"/>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5" name="Espace réservé du pied de page 4">
            <a:extLst>
              <a:ext uri="{FF2B5EF4-FFF2-40B4-BE49-F238E27FC236}">
                <a16:creationId xmlns:a16="http://schemas.microsoft.com/office/drawing/2014/main" id="{9440D578-11E9-0CE1-F171-B4A8D0529DDA}"/>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35A8FCA5-1C76-32CB-B9DA-D2AF47399D5E}"/>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1417329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9B31E0-24C3-DF14-A16B-25D4C2EF2A9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505FF13A-3A89-7ED6-1FD9-45F37D4267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4DE64C8-E3A1-D09C-BC51-9EF53DD50082}"/>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5" name="Espace réservé du pied de page 4">
            <a:extLst>
              <a:ext uri="{FF2B5EF4-FFF2-40B4-BE49-F238E27FC236}">
                <a16:creationId xmlns:a16="http://schemas.microsoft.com/office/drawing/2014/main" id="{24D3FD15-9790-0B2B-4F85-3F7CAE327593}"/>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F35E0805-B174-1AAC-F586-6827526F0CB6}"/>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4267967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5AA676-4353-7D7F-ECB6-DFF08529868C}"/>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8E877CCF-55D0-1D53-439C-64E0572EF83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68D45B90-BD04-D13D-26AE-7D160A8454A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3406A932-B55B-C6C1-A2D2-586DE1675C84}"/>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6" name="Espace réservé du pied de page 5">
            <a:extLst>
              <a:ext uri="{FF2B5EF4-FFF2-40B4-BE49-F238E27FC236}">
                <a16:creationId xmlns:a16="http://schemas.microsoft.com/office/drawing/2014/main" id="{B34BB362-9E91-5CE6-76FA-77D71CB438EC}"/>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24C23A1A-FA5C-066E-B474-B7127BADAE0F}"/>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292857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406054-AE37-546E-22CA-30229EC1E7E1}"/>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108775DC-0BF6-6292-6AA0-599DD6D664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8C9A633-3930-D21B-A276-8E0F474C7395}"/>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2AB3329C-FCCA-3CAF-7CCC-6F8E76847D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EF3F401-3803-535F-5E0E-2797206F3D7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A4D38B6D-A00E-A890-6F1B-61AA428D4C7A}"/>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8" name="Espace réservé du pied de page 7">
            <a:extLst>
              <a:ext uri="{FF2B5EF4-FFF2-40B4-BE49-F238E27FC236}">
                <a16:creationId xmlns:a16="http://schemas.microsoft.com/office/drawing/2014/main" id="{ABB2D3C7-03C7-B492-E784-BE6F7413182D}"/>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F6E3ACE7-E112-9F89-8EC7-E861B89373DB}"/>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2142972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061B46-BC6C-5B26-A85C-648DFF2BE586}"/>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A13209C1-8E0E-ECEF-21FD-A9E0F55391A1}"/>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4" name="Espace réservé du pied de page 3">
            <a:extLst>
              <a:ext uri="{FF2B5EF4-FFF2-40B4-BE49-F238E27FC236}">
                <a16:creationId xmlns:a16="http://schemas.microsoft.com/office/drawing/2014/main" id="{D2FF1E82-3F7C-04A8-F040-D43967EF6D89}"/>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9E55BC93-6046-CECE-1011-FC8939B143E0}"/>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398452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14D91BC-E0B6-8F17-6275-3D8744E6479D}"/>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3" name="Espace réservé du pied de page 2">
            <a:extLst>
              <a:ext uri="{FF2B5EF4-FFF2-40B4-BE49-F238E27FC236}">
                <a16:creationId xmlns:a16="http://schemas.microsoft.com/office/drawing/2014/main" id="{C4EF8A24-A0BE-1776-84F8-FCEF53F3D6F6}"/>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820B895D-CE5D-3C3B-72B8-69231D4FF6C2}"/>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19868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892834-0DB3-C2B2-E648-74980D32AA6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670B1973-550F-5951-3828-66919468E5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C0ABB982-6D76-B503-4C82-2ED430FF48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40694D3-1D9F-9F72-8619-6731877A2FA5}"/>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6" name="Espace réservé du pied de page 5">
            <a:extLst>
              <a:ext uri="{FF2B5EF4-FFF2-40B4-BE49-F238E27FC236}">
                <a16:creationId xmlns:a16="http://schemas.microsoft.com/office/drawing/2014/main" id="{909D05AB-B7C0-3249-2EDB-A42BD592BC5B}"/>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A0DF612D-B682-C665-C67D-8C38CAB1F920}"/>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401340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CD054B-2942-8F49-2A21-51790F3049B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9B4B2D2A-6CF1-B7B7-4A6A-07EAC57399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F39CB085-BDE2-D798-198D-C2B62B764D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1722D13-8A14-3A05-8E10-731BDE833B74}"/>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6" name="Espace réservé du pied de page 5">
            <a:extLst>
              <a:ext uri="{FF2B5EF4-FFF2-40B4-BE49-F238E27FC236}">
                <a16:creationId xmlns:a16="http://schemas.microsoft.com/office/drawing/2014/main" id="{BBE2BDA8-B85B-6F3D-E5C3-6CF86217B353}"/>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F9238F12-B9EF-9054-B168-9447BCE73A4E}"/>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2315691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57B4E2-F6BD-755D-30A0-7B35D629127A}"/>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DFDB6CFA-5711-4868-4689-0041BCA6B91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9805D92F-BF3E-BFA4-9FC9-4F95029B6F5A}"/>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5" name="Espace réservé du pied de page 4">
            <a:extLst>
              <a:ext uri="{FF2B5EF4-FFF2-40B4-BE49-F238E27FC236}">
                <a16:creationId xmlns:a16="http://schemas.microsoft.com/office/drawing/2014/main" id="{8D4A2FE7-6F95-7B61-291E-C98CF5842D5B}"/>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07DAE428-3A96-BDE6-3CF9-CC9CC1E86D4D}"/>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3048206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73658E4-49F0-96D4-65CA-95C25D6FDE16}"/>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03A48B2F-45BC-568C-676E-11D83757EA8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9914D06C-493A-A8A9-B59D-E0650E83D406}"/>
              </a:ext>
            </a:extLst>
          </p:cNvPr>
          <p:cNvSpPr>
            <a:spLocks noGrp="1"/>
          </p:cNvSpPr>
          <p:nvPr>
            <p:ph type="dt" sz="half" idx="10"/>
          </p:nvPr>
        </p:nvSpPr>
        <p:spPr/>
        <p:txBody>
          <a:bodyPr/>
          <a:lstStyle/>
          <a:p>
            <a:fld id="{A99D7B7E-03B2-446D-BFC9-CEC696B012DD}" type="datetimeFigureOut">
              <a:rPr lang="fr-CA" smtClean="0"/>
              <a:t>2024-04-22</a:t>
            </a:fld>
            <a:endParaRPr lang="fr-CA"/>
          </a:p>
        </p:txBody>
      </p:sp>
      <p:sp>
        <p:nvSpPr>
          <p:cNvPr id="5" name="Espace réservé du pied de page 4">
            <a:extLst>
              <a:ext uri="{FF2B5EF4-FFF2-40B4-BE49-F238E27FC236}">
                <a16:creationId xmlns:a16="http://schemas.microsoft.com/office/drawing/2014/main" id="{17CD5D62-1DA7-B7B3-F55A-4DC512118B35}"/>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673F79D1-BC69-80BF-0131-403B2BA4368E}"/>
              </a:ext>
            </a:extLst>
          </p:cNvPr>
          <p:cNvSpPr>
            <a:spLocks noGrp="1"/>
          </p:cNvSpPr>
          <p:nvPr>
            <p:ph type="sldNum" sz="quarter" idx="12"/>
          </p:nvPr>
        </p:nvSpPr>
        <p:spPr/>
        <p:txBody>
          <a:bodyPr/>
          <a:lstStyle/>
          <a:p>
            <a:fld id="{107602B2-7C66-429E-8696-774CF17C919E}" type="slidenum">
              <a:rPr lang="fr-CA" smtClean="0"/>
              <a:t>‹N°›</a:t>
            </a:fld>
            <a:endParaRPr lang="fr-CA"/>
          </a:p>
        </p:txBody>
      </p:sp>
    </p:spTree>
    <p:extLst>
      <p:ext uri="{BB962C8B-B14F-4D97-AF65-F5344CB8AC3E}">
        <p14:creationId xmlns:p14="http://schemas.microsoft.com/office/powerpoint/2010/main" val="3531055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D08D991-67F8-63B7-B1EB-EC455F9C9A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C362E44D-E493-1DC6-F9DE-5D7907E448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3F376CE-A9E8-86D7-AA6D-00878CEC17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9D7B7E-03B2-446D-BFC9-CEC696B012DD}" type="datetimeFigureOut">
              <a:rPr lang="fr-CA" smtClean="0"/>
              <a:t>2024-04-22</a:t>
            </a:fld>
            <a:endParaRPr lang="fr-CA"/>
          </a:p>
        </p:txBody>
      </p:sp>
      <p:sp>
        <p:nvSpPr>
          <p:cNvPr id="5" name="Espace réservé du pied de page 4">
            <a:extLst>
              <a:ext uri="{FF2B5EF4-FFF2-40B4-BE49-F238E27FC236}">
                <a16:creationId xmlns:a16="http://schemas.microsoft.com/office/drawing/2014/main" id="{ACE4CC43-5445-C176-3EC0-0C571013E7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38B3F250-A884-4D82-813D-83C1C500DA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07602B2-7C66-429E-8696-774CF17C919E}" type="slidenum">
              <a:rPr lang="fr-CA" smtClean="0"/>
              <a:t>‹N°›</a:t>
            </a:fld>
            <a:endParaRPr lang="fr-CA"/>
          </a:p>
        </p:txBody>
      </p:sp>
    </p:spTree>
    <p:extLst>
      <p:ext uri="{BB962C8B-B14F-4D97-AF65-F5344CB8AC3E}">
        <p14:creationId xmlns:p14="http://schemas.microsoft.com/office/powerpoint/2010/main" val="2556062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Arduino" TargetMode="External"/><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7" Type="http://schemas.openxmlformats.org/officeDocument/2006/relationships/hyperlink" Target="http://electronics.stackexchange.com/questions/287385/9v-to-12v-using-buck-booster" TargetMode="External"/><Relationship Id="rId2" Type="http://schemas.openxmlformats.org/officeDocument/2006/relationships/image" Target="../media/image19.jpg"/><Relationship Id="rId1" Type="http://schemas.openxmlformats.org/officeDocument/2006/relationships/slideLayout" Target="../slideLayouts/slideLayout7.xml"/><Relationship Id="rId6" Type="http://schemas.openxmlformats.org/officeDocument/2006/relationships/image" Target="../media/image21.jpg"/><Relationship Id="rId5" Type="http://schemas.openxmlformats.org/officeDocument/2006/relationships/hyperlink" Target="https://creativecommons.org/licenses/by-sa/3.0/" TargetMode="External"/><Relationship Id="rId4" Type="http://schemas.openxmlformats.org/officeDocument/2006/relationships/hyperlink" Target="https://electronics.stackexchange.com/questions/390531/9v-battery-vs-6xaa-batterie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ateneu.xtec.cat/wikiform/wikiexport/materials/csre/mbit/b4/b4t3/p36/index" TargetMode="External"/><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1.mp4"/><Relationship Id="rId1" Type="http://schemas.openxmlformats.org/officeDocument/2006/relationships/video" Target="NULL" TargetMode="External"/><Relationship Id="rId5" Type="http://schemas.openxmlformats.org/officeDocument/2006/relationships/image" Target="../media/image29.jp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roue, Pièce auto, pneu, Jouet radiocommandé&#10;&#10;Description générée automatiquement">
            <a:extLst>
              <a:ext uri="{FF2B5EF4-FFF2-40B4-BE49-F238E27FC236}">
                <a16:creationId xmlns:a16="http://schemas.microsoft.com/office/drawing/2014/main" id="{8336690A-2852-87BE-D288-6C3A313DA3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968" y="2470382"/>
            <a:ext cx="5517498" cy="3196456"/>
          </a:xfrm>
          <a:prstGeom prst="rect">
            <a:avLst/>
          </a:prstGeom>
        </p:spPr>
      </p:pic>
      <p:pic>
        <p:nvPicPr>
          <p:cNvPr id="7" name="Image 6" descr="Une image contenant texte, Police, logo, Graphique&#10;&#10;Description générée automatiquement">
            <a:extLst>
              <a:ext uri="{FF2B5EF4-FFF2-40B4-BE49-F238E27FC236}">
                <a16:creationId xmlns:a16="http://schemas.microsoft.com/office/drawing/2014/main" id="{546EEFBF-BE1A-8821-E823-5494FF1F7B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4702" y="123381"/>
            <a:ext cx="3578187" cy="1322734"/>
          </a:xfrm>
          <a:prstGeom prst="rect">
            <a:avLst/>
          </a:prstGeom>
        </p:spPr>
      </p:pic>
      <p:pic>
        <p:nvPicPr>
          <p:cNvPr id="9" name="Image 8" descr="Une image contenant texte, Police, blanc, capture d’écran&#10;&#10;Description générée automatiquement">
            <a:extLst>
              <a:ext uri="{FF2B5EF4-FFF2-40B4-BE49-F238E27FC236}">
                <a16:creationId xmlns:a16="http://schemas.microsoft.com/office/drawing/2014/main" id="{932BAFC5-0D54-629A-862F-328CECD80CFF}"/>
              </a:ext>
            </a:extLst>
          </p:cNvPr>
          <p:cNvPicPr>
            <a:picLocks noChangeAspect="1"/>
          </p:cNvPicPr>
          <p:nvPr/>
        </p:nvPicPr>
        <p:blipFill rotWithShape="1">
          <a:blip r:embed="rId4">
            <a:extLst>
              <a:ext uri="{28A0092B-C50C-407E-A947-70E740481C1C}">
                <a14:useLocalDpi xmlns:a14="http://schemas.microsoft.com/office/drawing/2010/main" val="0"/>
              </a:ext>
            </a:extLst>
          </a:blip>
          <a:srcRect t="12744" b="23535"/>
          <a:stretch/>
        </p:blipFill>
        <p:spPr>
          <a:xfrm>
            <a:off x="2526891" y="0"/>
            <a:ext cx="2380161" cy="1327355"/>
          </a:xfrm>
          <a:prstGeom prst="rect">
            <a:avLst/>
          </a:prstGeom>
        </p:spPr>
      </p:pic>
      <p:sp>
        <p:nvSpPr>
          <p:cNvPr id="10" name="ZoneTexte 9">
            <a:extLst>
              <a:ext uri="{FF2B5EF4-FFF2-40B4-BE49-F238E27FC236}">
                <a16:creationId xmlns:a16="http://schemas.microsoft.com/office/drawing/2014/main" id="{EB78E1BC-9DB1-C38F-1065-E1C94EBD1D79}"/>
              </a:ext>
            </a:extLst>
          </p:cNvPr>
          <p:cNvSpPr txBox="1"/>
          <p:nvPr/>
        </p:nvSpPr>
        <p:spPr>
          <a:xfrm>
            <a:off x="319762" y="1689394"/>
            <a:ext cx="6282813" cy="461665"/>
          </a:xfrm>
          <a:prstGeom prst="rect">
            <a:avLst/>
          </a:prstGeom>
          <a:noFill/>
        </p:spPr>
        <p:txBody>
          <a:bodyPr wrap="square" rtlCol="0">
            <a:spAutoFit/>
          </a:bodyPr>
          <a:lstStyle/>
          <a:p>
            <a:r>
              <a:rPr lang="fr-FR" dirty="0"/>
              <a:t>                           </a:t>
            </a:r>
            <a:r>
              <a:rPr lang="fr-FR" sz="2400" b="1" dirty="0"/>
              <a:t>ROBOT EVITEUR D’OBSTACLES</a:t>
            </a:r>
            <a:endParaRPr lang="fr-CA" sz="2400" b="1" dirty="0"/>
          </a:p>
        </p:txBody>
      </p:sp>
      <p:cxnSp>
        <p:nvCxnSpPr>
          <p:cNvPr id="12" name="Connecteur droit 11">
            <a:extLst>
              <a:ext uri="{FF2B5EF4-FFF2-40B4-BE49-F238E27FC236}">
                <a16:creationId xmlns:a16="http://schemas.microsoft.com/office/drawing/2014/main" id="{47603F04-20D6-5F1D-DA56-ED52DC68D62F}"/>
              </a:ext>
            </a:extLst>
          </p:cNvPr>
          <p:cNvCxnSpPr/>
          <p:nvPr/>
        </p:nvCxnSpPr>
        <p:spPr>
          <a:xfrm>
            <a:off x="7205549" y="1689394"/>
            <a:ext cx="0" cy="4433110"/>
          </a:xfrm>
          <a:prstGeom prst="line">
            <a:avLst/>
          </a:prstGeom>
        </p:spPr>
        <p:style>
          <a:lnRef idx="3">
            <a:schemeClr val="dk1"/>
          </a:lnRef>
          <a:fillRef idx="0">
            <a:schemeClr val="dk1"/>
          </a:fillRef>
          <a:effectRef idx="2">
            <a:schemeClr val="dk1"/>
          </a:effectRef>
          <a:fontRef idx="minor">
            <a:schemeClr val="tx1"/>
          </a:fontRef>
        </p:style>
      </p:cxnSp>
      <p:sp>
        <p:nvSpPr>
          <p:cNvPr id="13" name="ZoneTexte 12">
            <a:extLst>
              <a:ext uri="{FF2B5EF4-FFF2-40B4-BE49-F238E27FC236}">
                <a16:creationId xmlns:a16="http://schemas.microsoft.com/office/drawing/2014/main" id="{20464485-2A37-5FC6-79CB-72B1F95C75BF}"/>
              </a:ext>
            </a:extLst>
          </p:cNvPr>
          <p:cNvSpPr txBox="1"/>
          <p:nvPr/>
        </p:nvSpPr>
        <p:spPr>
          <a:xfrm>
            <a:off x="7387658" y="1308464"/>
            <a:ext cx="4484580" cy="5660652"/>
          </a:xfrm>
          <a:prstGeom prst="rect">
            <a:avLst/>
          </a:prstGeom>
          <a:noFill/>
        </p:spPr>
        <p:txBody>
          <a:bodyPr wrap="square" rtlCol="0">
            <a:spAutoFit/>
          </a:bodyPr>
          <a:lstStyle/>
          <a:p>
            <a:pPr algn="ctr"/>
            <a:r>
              <a:rPr lang="fr-FR" sz="1800" b="1" kern="1400" spc="-50" dirty="0">
                <a:effectLst/>
                <a:latin typeface="Arial" panose="020B0604020202020204" pitchFamily="34" charset="0"/>
                <a:ea typeface="Raleway" panose="020F0502020204030204" pitchFamily="2" charset="0"/>
                <a:cs typeface="Times New Roman" panose="02020603050405020304" pitchFamily="18" charset="0"/>
              </a:rPr>
              <a:t>Département d’informatique et d’ingénierie</a:t>
            </a:r>
            <a:endParaRPr lang="fr-CA" sz="1800" b="1" kern="1400" spc="-50" dirty="0">
              <a:effectLst/>
              <a:latin typeface="Arial" panose="020B0604020202020204" pitchFamily="34" charset="0"/>
              <a:ea typeface="Times New Roman" panose="02020603050405020304" pitchFamily="18" charset="0"/>
              <a:cs typeface="Times New Roman" panose="02020603050405020304" pitchFamily="18" charset="0"/>
            </a:endParaRPr>
          </a:p>
          <a:p>
            <a:pPr algn="ctr"/>
            <a:r>
              <a:rPr lang="fr-FR" sz="1800" b="0" kern="1400" spc="-50" dirty="0">
                <a:effectLst/>
                <a:latin typeface="Arial" panose="020B0604020202020204" pitchFamily="34" charset="0"/>
                <a:ea typeface="Calibri" panose="020F0502020204030204" pitchFamily="34" charset="0"/>
                <a:cs typeface="Times New Roman" panose="02020603050405020304" pitchFamily="18" charset="0"/>
              </a:rPr>
              <a:t>INF1643- ARCHITECTURE DES ORDINATEURS II</a:t>
            </a:r>
            <a:endParaRPr lang="fr-CA" sz="1800" b="1" kern="1400" spc="-50" dirty="0">
              <a:effectLst/>
              <a:latin typeface="Arial" panose="020B0604020202020204" pitchFamily="34" charset="0"/>
              <a:ea typeface="Times New Roman" panose="02020603050405020304" pitchFamily="18" charset="0"/>
              <a:cs typeface="Times New Roman" panose="02020603050405020304" pitchFamily="18" charset="0"/>
            </a:endParaRPr>
          </a:p>
          <a:p>
            <a:pPr algn="ctr">
              <a:lnSpc>
                <a:spcPct val="107000"/>
              </a:lnSpc>
              <a:spcAft>
                <a:spcPts val="800"/>
              </a:spcAft>
            </a:pP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endParaRPr lang="fr-CA"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fr-FR" sz="1800" b="0" kern="1400" spc="-50" dirty="0">
                <a:effectLst/>
                <a:latin typeface="Arial" panose="020B0604020202020204" pitchFamily="34" charset="0"/>
                <a:ea typeface="Calibri" panose="020F0502020204030204" pitchFamily="34" charset="0"/>
                <a:cs typeface="Times New Roman" panose="02020603050405020304" pitchFamily="18" charset="0"/>
              </a:rPr>
              <a:t>PROJET DE FIN DE SESSION</a:t>
            </a:r>
            <a:endParaRPr lang="fr-FR" b="1" dirty="0">
              <a:latin typeface="Calibri" panose="020F0502020204030204" pitchFamily="34" charset="0"/>
              <a:ea typeface="Calibri" panose="020F0502020204030204" pitchFamily="34" charset="0"/>
              <a:cs typeface="Calibri" panose="020F0502020204030204" pitchFamily="34" charset="0"/>
            </a:endParaRPr>
          </a:p>
          <a:p>
            <a:pPr algn="ctr">
              <a:lnSpc>
                <a:spcPct val="107000"/>
              </a:lnSpc>
              <a:spcAft>
                <a:spcPts val="800"/>
              </a:spcAft>
            </a:pPr>
            <a:r>
              <a:rPr lang="fr-FR" sz="1800" b="1" dirty="0">
                <a:effectLst/>
                <a:latin typeface="Calibri" panose="020F0502020204030204" pitchFamily="34" charset="0"/>
                <a:ea typeface="Calibri" panose="020F0502020204030204" pitchFamily="34" charset="0"/>
                <a:cs typeface="Calibri" panose="020F0502020204030204" pitchFamily="34" charset="0"/>
              </a:rPr>
              <a:t>Réalisé par:</a:t>
            </a:r>
            <a:endParaRPr lang="fr-CA" b="1"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fr-FR" sz="1800" dirty="0">
                <a:effectLst/>
                <a:latin typeface="Calibri" panose="020F0502020204030204" pitchFamily="34" charset="0"/>
                <a:ea typeface="Calibri" panose="020F0502020204030204" pitchFamily="34" charset="0"/>
                <a:cs typeface="Calibri" panose="020F0502020204030204" pitchFamily="34" charset="0"/>
              </a:rPr>
              <a:t>TAHOC WOKAM Durrice Léa, étudiante en GÉNIE INFORMATIQUE.</a:t>
            </a:r>
          </a:p>
          <a:p>
            <a:pPr algn="ctr">
              <a:lnSpc>
                <a:spcPct val="107000"/>
              </a:lnSpc>
              <a:spcAft>
                <a:spcPts val="800"/>
              </a:spcAft>
            </a:pPr>
            <a:r>
              <a:rPr lang="fr-FR" dirty="0">
                <a:latin typeface="Calibri" panose="020F0502020204030204" pitchFamily="34" charset="0"/>
                <a:ea typeface="Calibri" panose="020F0502020204030204" pitchFamily="34" charset="0"/>
                <a:cs typeface="Calibri" panose="020F0502020204030204" pitchFamily="34" charset="0"/>
              </a:rPr>
              <a:t>SOMA Marion Laurence Malika, étudiante en GENIE ÉLECTRIQUE.</a:t>
            </a:r>
          </a:p>
          <a:p>
            <a:pPr algn="ctr">
              <a:lnSpc>
                <a:spcPct val="107000"/>
              </a:lnSpc>
              <a:spcAft>
                <a:spcPts val="800"/>
              </a:spcAft>
            </a:pP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fr-FR" sz="1800" b="1" dirty="0">
                <a:effectLst/>
                <a:latin typeface="Calibri" panose="020F0502020204030204" pitchFamily="34" charset="0"/>
                <a:ea typeface="Calibri" panose="020F0502020204030204" pitchFamily="34" charset="0"/>
                <a:cs typeface="Calibri" panose="020F0502020204030204" pitchFamily="34" charset="0"/>
              </a:rPr>
              <a:t>Sous l’encadrement de :</a:t>
            </a:r>
            <a:endParaRPr lang="fr-CA" sz="1800" b="1"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fr-FR" sz="1800" dirty="0">
                <a:effectLst/>
                <a:latin typeface="Calibri" panose="020F0502020204030204" pitchFamily="34" charset="0"/>
                <a:ea typeface="Calibri" panose="020F0502020204030204" pitchFamily="34" charset="0"/>
                <a:cs typeface="Calibri" panose="020F0502020204030204" pitchFamily="34" charset="0"/>
              </a:rPr>
              <a:t>Mr. </a:t>
            </a:r>
            <a:r>
              <a:rPr lang="fr-FR" sz="1800" dirty="0">
                <a:effectLst/>
                <a:latin typeface="Calibri" panose="020F0502020204030204" pitchFamily="34" charset="0"/>
                <a:ea typeface="Calibri" panose="020F0502020204030204" pitchFamily="34" charset="0"/>
                <a:cs typeface="Times New Roman" panose="02020603050405020304" pitchFamily="18" charset="0"/>
              </a:rPr>
              <a:t>Bennai, Mustapha</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fr-FR" sz="1800" dirty="0">
                <a:effectLst/>
                <a:latin typeface="Calibri" panose="020F0502020204030204" pitchFamily="34" charset="0"/>
                <a:ea typeface="Calibri" panose="020F0502020204030204" pitchFamily="34" charset="0"/>
                <a:cs typeface="Calibri" panose="020F0502020204030204" pitchFamily="34" charset="0"/>
              </a:rPr>
              <a:t> </a:t>
            </a:r>
            <a:r>
              <a:rPr lang="fr-CA" dirty="0">
                <a:latin typeface="Calibri" panose="020F0502020204030204" pitchFamily="34" charset="0"/>
                <a:ea typeface="Calibri" panose="020F0502020204030204" pitchFamily="34" charset="0"/>
                <a:cs typeface="Times New Roman" panose="02020603050405020304" pitchFamily="18" charset="0"/>
              </a:rPr>
              <a:t>            </a:t>
            </a:r>
            <a:r>
              <a:rPr lang="fr-FR" sz="1800" b="1" dirty="0">
                <a:effectLst/>
                <a:latin typeface="Calibri" panose="020F0502020204030204" pitchFamily="34" charset="0"/>
                <a:ea typeface="Calibri" panose="020F0502020204030204" pitchFamily="34" charset="0"/>
                <a:cs typeface="Calibri" panose="020F0502020204030204" pitchFamily="34" charset="0"/>
              </a:rPr>
              <a:t>SESSION D’HIVER 2024 - Avril</a:t>
            </a:r>
            <a:endParaRPr lang="fr-CA"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CA" dirty="0"/>
          </a:p>
        </p:txBody>
      </p:sp>
    </p:spTree>
    <p:extLst>
      <p:ext uri="{BB962C8B-B14F-4D97-AF65-F5344CB8AC3E}">
        <p14:creationId xmlns:p14="http://schemas.microsoft.com/office/powerpoint/2010/main" val="3039534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dessin humoristique, ballon&#10;&#10;Description générée automatiquement">
            <a:extLst>
              <a:ext uri="{FF2B5EF4-FFF2-40B4-BE49-F238E27FC236}">
                <a16:creationId xmlns:a16="http://schemas.microsoft.com/office/drawing/2014/main" id="{51693CD7-6C53-810A-240B-5D0781CE3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61605"/>
            <a:ext cx="4336160" cy="4343399"/>
          </a:xfrm>
          <a:prstGeom prst="rect">
            <a:avLst/>
          </a:prstGeom>
        </p:spPr>
      </p:pic>
      <p:sp>
        <p:nvSpPr>
          <p:cNvPr id="6" name="ZoneTexte 5">
            <a:extLst>
              <a:ext uri="{FF2B5EF4-FFF2-40B4-BE49-F238E27FC236}">
                <a16:creationId xmlns:a16="http://schemas.microsoft.com/office/drawing/2014/main" id="{5F5A3EFC-EAF5-BE22-D932-6C1E01005506}"/>
              </a:ext>
            </a:extLst>
          </p:cNvPr>
          <p:cNvSpPr txBox="1"/>
          <p:nvPr/>
        </p:nvSpPr>
        <p:spPr>
          <a:xfrm>
            <a:off x="5747933" y="987906"/>
            <a:ext cx="4611756" cy="584775"/>
          </a:xfrm>
          <a:prstGeom prst="rect">
            <a:avLst/>
          </a:prstGeom>
          <a:noFill/>
        </p:spPr>
        <p:txBody>
          <a:bodyPr wrap="square" rtlCol="0">
            <a:spAutoFit/>
          </a:bodyPr>
          <a:lstStyle/>
          <a:p>
            <a:r>
              <a:rPr lang="fr-FR" sz="3200" b="1" dirty="0">
                <a:latin typeface="+mj-lt"/>
              </a:rPr>
              <a:t>         INTRODUCTION </a:t>
            </a:r>
            <a:endParaRPr lang="fr-CA" sz="3200" b="1" dirty="0">
              <a:latin typeface="+mj-lt"/>
            </a:endParaRPr>
          </a:p>
        </p:txBody>
      </p:sp>
      <p:sp>
        <p:nvSpPr>
          <p:cNvPr id="7" name="ZoneTexte 6">
            <a:extLst>
              <a:ext uri="{FF2B5EF4-FFF2-40B4-BE49-F238E27FC236}">
                <a16:creationId xmlns:a16="http://schemas.microsoft.com/office/drawing/2014/main" id="{04908316-6557-5393-DA74-6CB105369F2F}"/>
              </a:ext>
            </a:extLst>
          </p:cNvPr>
          <p:cNvSpPr txBox="1"/>
          <p:nvPr/>
        </p:nvSpPr>
        <p:spPr>
          <a:xfrm>
            <a:off x="4026698" y="1798982"/>
            <a:ext cx="7153474" cy="3416320"/>
          </a:xfrm>
          <a:prstGeom prst="rect">
            <a:avLst/>
          </a:prstGeom>
          <a:noFill/>
        </p:spPr>
        <p:txBody>
          <a:bodyPr wrap="square" rtlCol="0">
            <a:spAutoFit/>
          </a:bodyPr>
          <a:lstStyle/>
          <a:p>
            <a:pPr algn="just"/>
            <a:r>
              <a:rPr lang="fr-FR" dirty="0">
                <a:cs typeface="Arial" panose="020B0604020202020204" pitchFamily="34" charset="0"/>
              </a:rPr>
              <a:t>L'augmentation de l'automatisation dans divers secteurs nécessite des systèmes autonomes capables de naviguer efficacement dans leur environnement. Un robot </a:t>
            </a:r>
            <a:r>
              <a:rPr lang="fr-FR" dirty="0" err="1">
                <a:cs typeface="Arial" panose="020B0604020202020204" pitchFamily="34" charset="0"/>
              </a:rPr>
              <a:t>éviteur</a:t>
            </a:r>
            <a:r>
              <a:rPr lang="fr-FR" dirty="0">
                <a:cs typeface="Arial" panose="020B0604020202020204" pitchFamily="34" charset="0"/>
              </a:rPr>
              <a:t> d'obstacles est un exemple parfait de cette technologie.</a:t>
            </a:r>
          </a:p>
          <a:p>
            <a:pPr algn="just"/>
            <a:endParaRPr lang="fr-FR" dirty="0">
              <a:cs typeface="Arial" panose="020B0604020202020204" pitchFamily="34" charset="0"/>
            </a:endParaRPr>
          </a:p>
          <a:p>
            <a:pPr algn="just"/>
            <a:r>
              <a:rPr lang="fr-FR" dirty="0">
                <a:cs typeface="Arial" panose="020B0604020202020204" pitchFamily="34" charset="0"/>
              </a:rPr>
              <a:t>L'objectif général de ce projet est de concevoir et de construire un robot capable de détecter et d'éviter les obstacles de manière autonome.</a:t>
            </a:r>
          </a:p>
          <a:p>
            <a:pPr algn="just"/>
            <a:endParaRPr lang="fr-FR" dirty="0">
              <a:cs typeface="Arial" panose="020B0604020202020204" pitchFamily="34" charset="0"/>
            </a:endParaRPr>
          </a:p>
          <a:p>
            <a:pPr algn="just"/>
            <a:r>
              <a:rPr lang="fr-FR" dirty="0">
                <a:cs typeface="Arial" panose="020B0604020202020204" pitchFamily="34" charset="0"/>
              </a:rPr>
              <a:t>Ce projet est pertinent car il combine plusieurs domaines de l'informatique et de l'électronique, tels que la programmation, l'architecture des ordinateurs, et la robotique.</a:t>
            </a:r>
            <a:endParaRPr lang="fr-CA" dirty="0">
              <a:cs typeface="Arial" panose="020B0604020202020204" pitchFamily="34" charset="0"/>
            </a:endParaRPr>
          </a:p>
        </p:txBody>
      </p:sp>
      <p:cxnSp>
        <p:nvCxnSpPr>
          <p:cNvPr id="11" name="Connecteur droit 10">
            <a:extLst>
              <a:ext uri="{FF2B5EF4-FFF2-40B4-BE49-F238E27FC236}">
                <a16:creationId xmlns:a16="http://schemas.microsoft.com/office/drawing/2014/main" id="{B0B0D707-38BF-552C-0C0B-A5D3980649D0}"/>
              </a:ext>
            </a:extLst>
          </p:cNvPr>
          <p:cNvCxnSpPr/>
          <p:nvPr/>
        </p:nvCxnSpPr>
        <p:spPr>
          <a:xfrm>
            <a:off x="3916907" y="761605"/>
            <a:ext cx="0" cy="5475422"/>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38277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dessin humoristique&#10;&#10;Description générée automatiquement">
            <a:extLst>
              <a:ext uri="{FF2B5EF4-FFF2-40B4-BE49-F238E27FC236}">
                <a16:creationId xmlns:a16="http://schemas.microsoft.com/office/drawing/2014/main" id="{F26D4367-ACB3-180A-3B95-B81F9B296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56815"/>
            <a:ext cx="3810000" cy="3810000"/>
          </a:xfrm>
          <a:prstGeom prst="rect">
            <a:avLst/>
          </a:prstGeom>
        </p:spPr>
      </p:pic>
      <p:sp>
        <p:nvSpPr>
          <p:cNvPr id="4" name="ZoneTexte 3">
            <a:extLst>
              <a:ext uri="{FF2B5EF4-FFF2-40B4-BE49-F238E27FC236}">
                <a16:creationId xmlns:a16="http://schemas.microsoft.com/office/drawing/2014/main" id="{C3DD0A98-0FFA-38A3-0619-ACB99985F025}"/>
              </a:ext>
            </a:extLst>
          </p:cNvPr>
          <p:cNvSpPr txBox="1"/>
          <p:nvPr/>
        </p:nvSpPr>
        <p:spPr>
          <a:xfrm>
            <a:off x="3946184" y="3602644"/>
            <a:ext cx="7683910" cy="1815882"/>
          </a:xfrm>
          <a:prstGeom prst="rect">
            <a:avLst/>
          </a:prstGeom>
          <a:noFill/>
        </p:spPr>
        <p:txBody>
          <a:bodyPr wrap="square" rtlCol="0">
            <a:spAutoFit/>
          </a:bodyPr>
          <a:lstStyle/>
          <a:p>
            <a:pPr algn="just"/>
            <a:r>
              <a:rPr lang="fr-FR" sz="2800" dirty="0"/>
              <a:t>Le défi principal de ce projet est de programmer le robot pour qu'il puisse détecter les obstacles à une distance de 15 cm et réagir en conséquence pour les éviter.</a:t>
            </a:r>
            <a:endParaRPr lang="fr-CA" sz="2800" dirty="0"/>
          </a:p>
        </p:txBody>
      </p:sp>
      <p:cxnSp>
        <p:nvCxnSpPr>
          <p:cNvPr id="6" name="Connecteur droit 5">
            <a:extLst>
              <a:ext uri="{FF2B5EF4-FFF2-40B4-BE49-F238E27FC236}">
                <a16:creationId xmlns:a16="http://schemas.microsoft.com/office/drawing/2014/main" id="{D52B5E1A-D5BB-FE4B-D376-B7AA6C6F7F3C}"/>
              </a:ext>
            </a:extLst>
          </p:cNvPr>
          <p:cNvCxnSpPr/>
          <p:nvPr/>
        </p:nvCxnSpPr>
        <p:spPr>
          <a:xfrm>
            <a:off x="3995052" y="3261815"/>
            <a:ext cx="7586174" cy="0"/>
          </a:xfrm>
          <a:prstGeom prst="line">
            <a:avLst/>
          </a:prstGeom>
        </p:spPr>
        <p:style>
          <a:lnRef idx="3">
            <a:schemeClr val="dk1"/>
          </a:lnRef>
          <a:fillRef idx="0">
            <a:schemeClr val="dk1"/>
          </a:fillRef>
          <a:effectRef idx="2">
            <a:schemeClr val="dk1"/>
          </a:effectRef>
          <a:fontRef idx="minor">
            <a:schemeClr val="tx1"/>
          </a:fontRef>
        </p:style>
      </p:cxnSp>
      <p:pic>
        <p:nvPicPr>
          <p:cNvPr id="8" name="Image 7">
            <a:extLst>
              <a:ext uri="{FF2B5EF4-FFF2-40B4-BE49-F238E27FC236}">
                <a16:creationId xmlns:a16="http://schemas.microsoft.com/office/drawing/2014/main" id="{2BB4F570-7B96-BD2A-104B-52F0D0F0A283}"/>
              </a:ext>
            </a:extLst>
          </p:cNvPr>
          <p:cNvPicPr>
            <a:picLocks noChangeAspect="1"/>
          </p:cNvPicPr>
          <p:nvPr/>
        </p:nvPicPr>
        <p:blipFill rotWithShape="1">
          <a:blip r:embed="rId3">
            <a:extLst>
              <a:ext uri="{28A0092B-C50C-407E-A947-70E740481C1C}">
                <a14:useLocalDpi xmlns:a14="http://schemas.microsoft.com/office/drawing/2010/main" val="0"/>
              </a:ext>
            </a:extLst>
          </a:blip>
          <a:srcRect b="9178"/>
          <a:stretch/>
        </p:blipFill>
        <p:spPr>
          <a:xfrm>
            <a:off x="8516783" y="263840"/>
            <a:ext cx="3113311" cy="2827561"/>
          </a:xfrm>
          <a:prstGeom prst="rect">
            <a:avLst/>
          </a:prstGeom>
        </p:spPr>
      </p:pic>
      <p:pic>
        <p:nvPicPr>
          <p:cNvPr id="10" name="Image 9" descr="Une image contenant skateboard&#10;&#10;Description générée automatiquement">
            <a:extLst>
              <a:ext uri="{FF2B5EF4-FFF2-40B4-BE49-F238E27FC236}">
                <a16:creationId xmlns:a16="http://schemas.microsoft.com/office/drawing/2014/main" id="{DF8D64B1-9692-559E-7036-F26B494F774A}"/>
              </a:ext>
            </a:extLst>
          </p:cNvPr>
          <p:cNvPicPr>
            <a:picLocks noChangeAspect="1"/>
          </p:cNvPicPr>
          <p:nvPr/>
        </p:nvPicPr>
        <p:blipFill rotWithShape="1">
          <a:blip r:embed="rId4">
            <a:extLst>
              <a:ext uri="{28A0092B-C50C-407E-A947-70E740481C1C}">
                <a14:useLocalDpi xmlns:a14="http://schemas.microsoft.com/office/drawing/2010/main" val="0"/>
              </a:ext>
            </a:extLst>
          </a:blip>
          <a:srcRect l="2778" t="4974" r="4079" b="12734"/>
          <a:stretch/>
        </p:blipFill>
        <p:spPr>
          <a:xfrm>
            <a:off x="4899547" y="1439474"/>
            <a:ext cx="1869744" cy="1651928"/>
          </a:xfrm>
          <a:prstGeom prst="rect">
            <a:avLst/>
          </a:prstGeom>
        </p:spPr>
      </p:pic>
      <p:cxnSp>
        <p:nvCxnSpPr>
          <p:cNvPr id="12" name="Connecteur droit avec flèche 11">
            <a:extLst>
              <a:ext uri="{FF2B5EF4-FFF2-40B4-BE49-F238E27FC236}">
                <a16:creationId xmlns:a16="http://schemas.microsoft.com/office/drawing/2014/main" id="{4D3FB6F3-5503-9EC6-F39C-50FFE77F48F2}"/>
              </a:ext>
            </a:extLst>
          </p:cNvPr>
          <p:cNvCxnSpPr>
            <a:cxnSpLocks/>
          </p:cNvCxnSpPr>
          <p:nvPr/>
        </p:nvCxnSpPr>
        <p:spPr>
          <a:xfrm>
            <a:off x="6318913" y="1961190"/>
            <a:ext cx="3043451" cy="0"/>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sp>
        <p:nvSpPr>
          <p:cNvPr id="15" name="ZoneTexte 14">
            <a:extLst>
              <a:ext uri="{FF2B5EF4-FFF2-40B4-BE49-F238E27FC236}">
                <a16:creationId xmlns:a16="http://schemas.microsoft.com/office/drawing/2014/main" id="{9EB9718C-A035-EE62-2886-E1486B4FF3BB}"/>
              </a:ext>
            </a:extLst>
          </p:cNvPr>
          <p:cNvSpPr txBox="1"/>
          <p:nvPr/>
        </p:nvSpPr>
        <p:spPr>
          <a:xfrm>
            <a:off x="7533564" y="1984033"/>
            <a:ext cx="1446662" cy="369332"/>
          </a:xfrm>
          <a:prstGeom prst="rect">
            <a:avLst/>
          </a:prstGeom>
          <a:noFill/>
        </p:spPr>
        <p:txBody>
          <a:bodyPr wrap="square" rtlCol="0">
            <a:spAutoFit/>
          </a:bodyPr>
          <a:lstStyle/>
          <a:p>
            <a:r>
              <a:rPr lang="fr-FR" dirty="0"/>
              <a:t>15 cm</a:t>
            </a:r>
            <a:endParaRPr lang="fr-CA" dirty="0"/>
          </a:p>
        </p:txBody>
      </p:sp>
      <p:sp>
        <p:nvSpPr>
          <p:cNvPr id="16" name="Nuage 15">
            <a:extLst>
              <a:ext uri="{FF2B5EF4-FFF2-40B4-BE49-F238E27FC236}">
                <a16:creationId xmlns:a16="http://schemas.microsoft.com/office/drawing/2014/main" id="{A37D9D49-B4C6-3A2F-CDFA-5F568F889A4F}"/>
              </a:ext>
            </a:extLst>
          </p:cNvPr>
          <p:cNvSpPr/>
          <p:nvPr/>
        </p:nvSpPr>
        <p:spPr>
          <a:xfrm>
            <a:off x="3337438" y="530852"/>
            <a:ext cx="2197290" cy="1651926"/>
          </a:xfrm>
          <a:prstGeom prst="cloud">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7" name="ZoneTexte 16">
            <a:extLst>
              <a:ext uri="{FF2B5EF4-FFF2-40B4-BE49-F238E27FC236}">
                <a16:creationId xmlns:a16="http://schemas.microsoft.com/office/drawing/2014/main" id="{B25E4F04-A456-8BD5-3327-19DFC102619E}"/>
              </a:ext>
            </a:extLst>
          </p:cNvPr>
          <p:cNvSpPr txBox="1"/>
          <p:nvPr/>
        </p:nvSpPr>
        <p:spPr>
          <a:xfrm>
            <a:off x="3436405" y="751389"/>
            <a:ext cx="1869744" cy="1200329"/>
          </a:xfrm>
          <a:prstGeom prst="rect">
            <a:avLst/>
          </a:prstGeom>
          <a:noFill/>
        </p:spPr>
        <p:txBody>
          <a:bodyPr wrap="square" rtlCol="0">
            <a:spAutoFit/>
          </a:bodyPr>
          <a:lstStyle/>
          <a:p>
            <a:pPr algn="ctr"/>
            <a:r>
              <a:rPr lang="fr-FR" dirty="0"/>
              <a:t>  Obstacle!! </a:t>
            </a:r>
          </a:p>
          <a:p>
            <a:pPr algn="ctr"/>
            <a:r>
              <a:rPr lang="fr-FR" dirty="0"/>
              <a:t>🛑 </a:t>
            </a:r>
          </a:p>
          <a:p>
            <a:pPr algn="ctr"/>
            <a:r>
              <a:rPr lang="fr-FR" dirty="0"/>
              <a:t>STOP!!</a:t>
            </a:r>
          </a:p>
          <a:p>
            <a:pPr algn="ctr"/>
            <a:r>
              <a:rPr lang="fr-FR" dirty="0"/>
              <a:t>Je dois l'évite </a:t>
            </a:r>
            <a:endParaRPr lang="fr-CA" dirty="0"/>
          </a:p>
        </p:txBody>
      </p:sp>
      <p:sp>
        <p:nvSpPr>
          <p:cNvPr id="18" name="ZoneTexte 17">
            <a:extLst>
              <a:ext uri="{FF2B5EF4-FFF2-40B4-BE49-F238E27FC236}">
                <a16:creationId xmlns:a16="http://schemas.microsoft.com/office/drawing/2014/main" id="{7F556E32-E129-8A1C-F268-FD614E26A103}"/>
              </a:ext>
            </a:extLst>
          </p:cNvPr>
          <p:cNvSpPr txBox="1"/>
          <p:nvPr/>
        </p:nvSpPr>
        <p:spPr>
          <a:xfrm>
            <a:off x="342332" y="5233860"/>
            <a:ext cx="2578289" cy="646331"/>
          </a:xfrm>
          <a:prstGeom prst="rect">
            <a:avLst/>
          </a:prstGeom>
          <a:noFill/>
        </p:spPr>
        <p:txBody>
          <a:bodyPr wrap="square" rtlCol="0">
            <a:spAutoFit/>
          </a:bodyPr>
          <a:lstStyle/>
          <a:p>
            <a:pPr algn="just"/>
            <a:r>
              <a:rPr lang="fr-FR" b="1" dirty="0"/>
              <a:t>Quelle est le problème à résoudre ?</a:t>
            </a:r>
            <a:endParaRPr lang="fr-CA" b="1" dirty="0"/>
          </a:p>
        </p:txBody>
      </p:sp>
    </p:spTree>
    <p:extLst>
      <p:ext uri="{BB962C8B-B14F-4D97-AF65-F5344CB8AC3E}">
        <p14:creationId xmlns:p14="http://schemas.microsoft.com/office/powerpoint/2010/main" val="5526280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conception, art&#10;&#10;Description générée automatiquement avec une confiance moyenne">
            <a:extLst>
              <a:ext uri="{FF2B5EF4-FFF2-40B4-BE49-F238E27FC236}">
                <a16:creationId xmlns:a16="http://schemas.microsoft.com/office/drawing/2014/main" id="{278EE055-427B-2D35-DAF3-2356A959BDF7}"/>
              </a:ext>
            </a:extLst>
          </p:cNvPr>
          <p:cNvPicPr>
            <a:picLocks noChangeAspect="1"/>
          </p:cNvPicPr>
          <p:nvPr/>
        </p:nvPicPr>
        <p:blipFill rotWithShape="1">
          <a:blip r:embed="rId2">
            <a:extLst>
              <a:ext uri="{28A0092B-C50C-407E-A947-70E740481C1C}">
                <a14:useLocalDpi xmlns:a14="http://schemas.microsoft.com/office/drawing/2010/main" val="0"/>
              </a:ext>
            </a:extLst>
          </a:blip>
          <a:srcRect l="15906" r="17197"/>
          <a:stretch/>
        </p:blipFill>
        <p:spPr>
          <a:xfrm>
            <a:off x="0" y="201070"/>
            <a:ext cx="6327060" cy="6455859"/>
          </a:xfrm>
          <a:prstGeom prst="rect">
            <a:avLst/>
          </a:prstGeom>
        </p:spPr>
      </p:pic>
      <p:sp>
        <p:nvSpPr>
          <p:cNvPr id="4" name="ZoneTexte 3">
            <a:extLst>
              <a:ext uri="{FF2B5EF4-FFF2-40B4-BE49-F238E27FC236}">
                <a16:creationId xmlns:a16="http://schemas.microsoft.com/office/drawing/2014/main" id="{10D15EE4-84E4-90A3-95C6-A8DDDF4263F3}"/>
              </a:ext>
            </a:extLst>
          </p:cNvPr>
          <p:cNvSpPr txBox="1"/>
          <p:nvPr/>
        </p:nvSpPr>
        <p:spPr>
          <a:xfrm>
            <a:off x="109182" y="335031"/>
            <a:ext cx="3274142" cy="369332"/>
          </a:xfrm>
          <a:prstGeom prst="rect">
            <a:avLst/>
          </a:prstGeom>
          <a:noFill/>
        </p:spPr>
        <p:txBody>
          <a:bodyPr wrap="square" rtlCol="0">
            <a:spAutoFit/>
          </a:bodyPr>
          <a:lstStyle/>
          <a:p>
            <a:r>
              <a:rPr lang="fr-FR" b="1" dirty="0"/>
              <a:t>Pourquoi ce choix de projet?</a:t>
            </a:r>
            <a:endParaRPr lang="fr-CA" b="1" dirty="0"/>
          </a:p>
        </p:txBody>
      </p:sp>
      <p:sp>
        <p:nvSpPr>
          <p:cNvPr id="9" name="ZoneTexte 8">
            <a:extLst>
              <a:ext uri="{FF2B5EF4-FFF2-40B4-BE49-F238E27FC236}">
                <a16:creationId xmlns:a16="http://schemas.microsoft.com/office/drawing/2014/main" id="{1BAE7048-D693-9E1B-08C5-999A7D3D9610}"/>
              </a:ext>
            </a:extLst>
          </p:cNvPr>
          <p:cNvSpPr txBox="1"/>
          <p:nvPr/>
        </p:nvSpPr>
        <p:spPr>
          <a:xfrm>
            <a:off x="5172501" y="491319"/>
            <a:ext cx="6223380" cy="707886"/>
          </a:xfrm>
          <a:prstGeom prst="rect">
            <a:avLst/>
          </a:prstGeom>
          <a:noFill/>
        </p:spPr>
        <p:txBody>
          <a:bodyPr wrap="square" rtlCol="0">
            <a:spAutoFit/>
          </a:bodyPr>
          <a:lstStyle/>
          <a:p>
            <a:r>
              <a:rPr lang="fr-FR" sz="2000" b="1" dirty="0"/>
              <a:t>Apprentissage pratique de l’utilisation de la carte Arduino UNO</a:t>
            </a:r>
            <a:endParaRPr lang="fr-CA" sz="2000" b="1" dirty="0"/>
          </a:p>
        </p:txBody>
      </p:sp>
      <p:sp>
        <p:nvSpPr>
          <p:cNvPr id="10" name="ZoneTexte 9">
            <a:extLst>
              <a:ext uri="{FF2B5EF4-FFF2-40B4-BE49-F238E27FC236}">
                <a16:creationId xmlns:a16="http://schemas.microsoft.com/office/drawing/2014/main" id="{A4AC429F-EB43-54FF-A807-DA88FEE94723}"/>
              </a:ext>
            </a:extLst>
          </p:cNvPr>
          <p:cNvSpPr txBox="1"/>
          <p:nvPr/>
        </p:nvSpPr>
        <p:spPr>
          <a:xfrm>
            <a:off x="5152029" y="1863510"/>
            <a:ext cx="6327060" cy="1600438"/>
          </a:xfrm>
          <a:prstGeom prst="rect">
            <a:avLst/>
          </a:prstGeom>
          <a:noFill/>
        </p:spPr>
        <p:txBody>
          <a:bodyPr wrap="square" rtlCol="0">
            <a:spAutoFit/>
          </a:bodyPr>
          <a:lstStyle/>
          <a:p>
            <a:pPr algn="just"/>
            <a:r>
              <a:rPr lang="fr-FR" sz="2000" b="1" dirty="0"/>
              <a:t>Développement de compétences en programmation : </a:t>
            </a:r>
            <a:r>
              <a:rPr lang="fr-FR" sz="2000" dirty="0"/>
              <a:t>La programmation d'un robot pour éviter les obstacles nécessite une logique de programmation solide et peut nous aider à améliorer vos compétences en codage.</a:t>
            </a:r>
          </a:p>
          <a:p>
            <a:endParaRPr lang="fr-CA" dirty="0"/>
          </a:p>
        </p:txBody>
      </p:sp>
      <p:sp>
        <p:nvSpPr>
          <p:cNvPr id="11" name="ZoneTexte 10">
            <a:extLst>
              <a:ext uri="{FF2B5EF4-FFF2-40B4-BE49-F238E27FC236}">
                <a16:creationId xmlns:a16="http://schemas.microsoft.com/office/drawing/2014/main" id="{84CF0703-62BE-2C9C-651F-2A3CC2D3BE38}"/>
              </a:ext>
            </a:extLst>
          </p:cNvPr>
          <p:cNvSpPr txBox="1"/>
          <p:nvPr/>
        </p:nvSpPr>
        <p:spPr>
          <a:xfrm>
            <a:off x="5186149" y="3835021"/>
            <a:ext cx="5977720" cy="1323439"/>
          </a:xfrm>
          <a:prstGeom prst="rect">
            <a:avLst/>
          </a:prstGeom>
          <a:noFill/>
        </p:spPr>
        <p:txBody>
          <a:bodyPr wrap="square" rtlCol="0">
            <a:spAutoFit/>
          </a:bodyPr>
          <a:lstStyle/>
          <a:p>
            <a:pPr algn="just"/>
            <a:r>
              <a:rPr lang="fr-FR" sz="2000" b="1" dirty="0"/>
              <a:t>Compréhension de l'intelligence artificielle (IA): </a:t>
            </a:r>
            <a:r>
              <a:rPr lang="fr-FR" sz="2000" dirty="0"/>
              <a:t>comment l'IA peut être utilisée pour automatiser certaines tâches, comme naviguer sans heurter d'obstacles.</a:t>
            </a:r>
            <a:endParaRPr lang="fr-CA" sz="2000" dirty="0"/>
          </a:p>
        </p:txBody>
      </p:sp>
      <p:sp>
        <p:nvSpPr>
          <p:cNvPr id="12" name="ZoneTexte 11">
            <a:extLst>
              <a:ext uri="{FF2B5EF4-FFF2-40B4-BE49-F238E27FC236}">
                <a16:creationId xmlns:a16="http://schemas.microsoft.com/office/drawing/2014/main" id="{45F60B9F-1CA5-9057-DAFB-0DF43E7089C3}"/>
              </a:ext>
            </a:extLst>
          </p:cNvPr>
          <p:cNvSpPr txBox="1"/>
          <p:nvPr/>
        </p:nvSpPr>
        <p:spPr>
          <a:xfrm>
            <a:off x="5323949" y="5584529"/>
            <a:ext cx="5977720" cy="1015663"/>
          </a:xfrm>
          <a:prstGeom prst="rect">
            <a:avLst/>
          </a:prstGeom>
          <a:noFill/>
        </p:spPr>
        <p:txBody>
          <a:bodyPr wrap="square" rtlCol="0">
            <a:spAutoFit/>
          </a:bodyPr>
          <a:lstStyle/>
          <a:p>
            <a:pPr algn="just"/>
            <a:r>
              <a:rPr lang="fr-CA" sz="2000" b="1" dirty="0"/>
              <a:t>Résolution de problèmes:</a:t>
            </a:r>
            <a:r>
              <a:rPr lang="fr-CA" sz="2000" dirty="0"/>
              <a:t> </a:t>
            </a:r>
            <a:r>
              <a:rPr lang="fr-FR" sz="2000" dirty="0"/>
              <a:t>comment un robot peut se déplacer de manière autonome sans heurter d'obstacles</a:t>
            </a:r>
            <a:endParaRPr lang="fr-CA" sz="2000" dirty="0"/>
          </a:p>
        </p:txBody>
      </p:sp>
    </p:spTree>
    <p:extLst>
      <p:ext uri="{BB962C8B-B14F-4D97-AF65-F5344CB8AC3E}">
        <p14:creationId xmlns:p14="http://schemas.microsoft.com/office/powerpoint/2010/main" val="1548799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dessin humoristique&#10;&#10;Description générée automatiquement">
            <a:extLst>
              <a:ext uri="{FF2B5EF4-FFF2-40B4-BE49-F238E27FC236}">
                <a16:creationId xmlns:a16="http://schemas.microsoft.com/office/drawing/2014/main" id="{507F2524-EF11-9DCF-0331-F3BBAABF3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0416"/>
            <a:ext cx="5458968" cy="6297168"/>
          </a:xfrm>
          <a:prstGeom prst="rect">
            <a:avLst/>
          </a:prstGeom>
        </p:spPr>
      </p:pic>
      <p:cxnSp>
        <p:nvCxnSpPr>
          <p:cNvPr id="5" name="Connecteur droit 4">
            <a:extLst>
              <a:ext uri="{FF2B5EF4-FFF2-40B4-BE49-F238E27FC236}">
                <a16:creationId xmlns:a16="http://schemas.microsoft.com/office/drawing/2014/main" id="{047D544B-3F24-4874-3A09-4F843E08D669}"/>
              </a:ext>
            </a:extLst>
          </p:cNvPr>
          <p:cNvCxnSpPr/>
          <p:nvPr/>
        </p:nvCxnSpPr>
        <p:spPr>
          <a:xfrm>
            <a:off x="5868537" y="280416"/>
            <a:ext cx="0" cy="6052145"/>
          </a:xfrm>
          <a:prstGeom prst="line">
            <a:avLst/>
          </a:prstGeom>
        </p:spPr>
        <p:style>
          <a:lnRef idx="3">
            <a:schemeClr val="dk1"/>
          </a:lnRef>
          <a:fillRef idx="0">
            <a:schemeClr val="dk1"/>
          </a:fillRef>
          <a:effectRef idx="2">
            <a:schemeClr val="dk1"/>
          </a:effectRef>
          <a:fontRef idx="minor">
            <a:schemeClr val="tx1"/>
          </a:fontRef>
        </p:style>
      </p:cxnSp>
      <p:sp>
        <p:nvSpPr>
          <p:cNvPr id="6" name="ZoneTexte 5">
            <a:extLst>
              <a:ext uri="{FF2B5EF4-FFF2-40B4-BE49-F238E27FC236}">
                <a16:creationId xmlns:a16="http://schemas.microsoft.com/office/drawing/2014/main" id="{6C20E0F7-EF64-66E1-58AE-651F6CA2509E}"/>
              </a:ext>
            </a:extLst>
          </p:cNvPr>
          <p:cNvSpPr txBox="1"/>
          <p:nvPr/>
        </p:nvSpPr>
        <p:spPr>
          <a:xfrm>
            <a:off x="600638" y="464024"/>
            <a:ext cx="4503762" cy="369332"/>
          </a:xfrm>
          <a:prstGeom prst="rect">
            <a:avLst/>
          </a:prstGeom>
          <a:noFill/>
        </p:spPr>
        <p:txBody>
          <a:bodyPr wrap="square" rtlCol="0">
            <a:spAutoFit/>
          </a:bodyPr>
          <a:lstStyle/>
          <a:p>
            <a:pPr algn="ctr"/>
            <a:r>
              <a:rPr lang="fr-FR" b="1" dirty="0"/>
              <a:t>Quelle  sont les objectifs ?</a:t>
            </a:r>
            <a:endParaRPr lang="fr-CA" b="1" dirty="0"/>
          </a:p>
        </p:txBody>
      </p:sp>
      <p:sp>
        <p:nvSpPr>
          <p:cNvPr id="7" name="ZoneTexte 6">
            <a:extLst>
              <a:ext uri="{FF2B5EF4-FFF2-40B4-BE49-F238E27FC236}">
                <a16:creationId xmlns:a16="http://schemas.microsoft.com/office/drawing/2014/main" id="{E0BAB334-0D78-98A5-E55C-D17ED4396E9E}"/>
              </a:ext>
            </a:extLst>
          </p:cNvPr>
          <p:cNvSpPr txBox="1"/>
          <p:nvPr/>
        </p:nvSpPr>
        <p:spPr>
          <a:xfrm>
            <a:off x="6428095" y="1843950"/>
            <a:ext cx="5349920" cy="3170099"/>
          </a:xfrm>
          <a:prstGeom prst="rect">
            <a:avLst/>
          </a:prstGeom>
          <a:noFill/>
        </p:spPr>
        <p:txBody>
          <a:bodyPr wrap="square" rtlCol="0">
            <a:spAutoFit/>
          </a:bodyPr>
          <a:lstStyle/>
          <a:p>
            <a:pPr algn="just"/>
            <a:r>
              <a:rPr lang="fr-FR" sz="2000" b="1" dirty="0"/>
              <a:t>L'objectif principal de ce projet est de programmer avec succès le robot pour qu'il puisse détecter et éviter les obstacles.</a:t>
            </a:r>
          </a:p>
          <a:p>
            <a:pPr algn="just"/>
            <a:endParaRPr lang="fr-FR" sz="2000" b="1" dirty="0"/>
          </a:p>
          <a:p>
            <a:pPr algn="just"/>
            <a:r>
              <a:rPr lang="fr-FR" sz="2000" b="1" dirty="0"/>
              <a:t>Les objectifs secondaires comprennent l'optimisation du code pour améliorer l'efficacité du robot, ainsi que l'ajustement des paramètres du capteur ultrasonique pour obtenir les meilleures performances possibles.</a:t>
            </a:r>
            <a:endParaRPr lang="fr-CA" sz="2000" b="1" dirty="0"/>
          </a:p>
        </p:txBody>
      </p:sp>
    </p:spTree>
    <p:extLst>
      <p:ext uri="{BB962C8B-B14F-4D97-AF65-F5344CB8AC3E}">
        <p14:creationId xmlns:p14="http://schemas.microsoft.com/office/powerpoint/2010/main" val="767395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dessin humoristique, jouet&#10;&#10;Description générée automatiquement">
            <a:extLst>
              <a:ext uri="{FF2B5EF4-FFF2-40B4-BE49-F238E27FC236}">
                <a16:creationId xmlns:a16="http://schemas.microsoft.com/office/drawing/2014/main" id="{B286DDB1-08E7-2A4D-BEC3-01F9225794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9401" y="-43048"/>
            <a:ext cx="4602480" cy="3834384"/>
          </a:xfrm>
          <a:prstGeom prst="rect">
            <a:avLst/>
          </a:prstGeom>
        </p:spPr>
      </p:pic>
      <p:pic>
        <p:nvPicPr>
          <p:cNvPr id="5" name="Image 4" descr="Une image contenant meubles, ordinateur, table, bureau&#10;&#10;Description générée automatiquement">
            <a:extLst>
              <a:ext uri="{FF2B5EF4-FFF2-40B4-BE49-F238E27FC236}">
                <a16:creationId xmlns:a16="http://schemas.microsoft.com/office/drawing/2014/main" id="{DFD9DB35-7D6E-A8B1-EEA1-64269C148B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389086"/>
            <a:ext cx="3638248" cy="2728686"/>
          </a:xfrm>
          <a:prstGeom prst="rect">
            <a:avLst/>
          </a:prstGeom>
        </p:spPr>
      </p:pic>
      <p:pic>
        <p:nvPicPr>
          <p:cNvPr id="7" name="Image 6" descr="Une image contenant jouet, dessin humoristique, arme, figurine&#10;&#10;Description générée automatiquement">
            <a:extLst>
              <a:ext uri="{FF2B5EF4-FFF2-40B4-BE49-F238E27FC236}">
                <a16:creationId xmlns:a16="http://schemas.microsoft.com/office/drawing/2014/main" id="{23DB0FAB-D2F2-0952-2B13-752F495FDE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3629"/>
            <a:ext cx="3280229" cy="2460172"/>
          </a:xfrm>
          <a:prstGeom prst="rect">
            <a:avLst/>
          </a:prstGeom>
        </p:spPr>
      </p:pic>
      <p:sp>
        <p:nvSpPr>
          <p:cNvPr id="9" name="Flèche : courbe vers la gauche 8">
            <a:extLst>
              <a:ext uri="{FF2B5EF4-FFF2-40B4-BE49-F238E27FC236}">
                <a16:creationId xmlns:a16="http://schemas.microsoft.com/office/drawing/2014/main" id="{C2F7A082-9758-F44F-8547-C4618E02B51F}"/>
              </a:ext>
            </a:extLst>
          </p:cNvPr>
          <p:cNvSpPr/>
          <p:nvPr/>
        </p:nvSpPr>
        <p:spPr>
          <a:xfrm>
            <a:off x="2975212" y="2101755"/>
            <a:ext cx="663036" cy="1287331"/>
          </a:xfrm>
          <a:prstGeom prst="curved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solidFill>
                <a:schemeClr val="tx1"/>
              </a:solidFill>
            </a:endParaRPr>
          </a:p>
        </p:txBody>
      </p:sp>
      <p:sp>
        <p:nvSpPr>
          <p:cNvPr id="10" name="ZoneTexte 9">
            <a:extLst>
              <a:ext uri="{FF2B5EF4-FFF2-40B4-BE49-F238E27FC236}">
                <a16:creationId xmlns:a16="http://schemas.microsoft.com/office/drawing/2014/main" id="{99DFE096-B19F-7AA1-70A1-F5051F4ADC04}"/>
              </a:ext>
            </a:extLst>
          </p:cNvPr>
          <p:cNvSpPr txBox="1"/>
          <p:nvPr/>
        </p:nvSpPr>
        <p:spPr>
          <a:xfrm>
            <a:off x="4162567" y="3993833"/>
            <a:ext cx="7424382" cy="1323439"/>
          </a:xfrm>
          <a:prstGeom prst="rect">
            <a:avLst/>
          </a:prstGeom>
          <a:noFill/>
        </p:spPr>
        <p:txBody>
          <a:bodyPr wrap="square" rtlCol="0">
            <a:spAutoFit/>
          </a:bodyPr>
          <a:lstStyle/>
          <a:p>
            <a:pPr algn="just"/>
            <a:r>
              <a:rPr lang="fr-FR" sz="2000" b="1" dirty="0"/>
              <a:t>Nous avons utilisé une approche itérative pour la conception et le développement du robot, en commençant par une phase de conception initiale, suivie de phases de développement et de test</a:t>
            </a:r>
            <a:endParaRPr lang="fr-CA" sz="2000" b="1" dirty="0"/>
          </a:p>
        </p:txBody>
      </p:sp>
      <p:cxnSp>
        <p:nvCxnSpPr>
          <p:cNvPr id="12" name="Connecteur droit 11">
            <a:extLst>
              <a:ext uri="{FF2B5EF4-FFF2-40B4-BE49-F238E27FC236}">
                <a16:creationId xmlns:a16="http://schemas.microsoft.com/office/drawing/2014/main" id="{C3A63C5C-ECE0-921A-6184-49AE2D13E385}"/>
              </a:ext>
            </a:extLst>
          </p:cNvPr>
          <p:cNvCxnSpPr/>
          <p:nvPr/>
        </p:nvCxnSpPr>
        <p:spPr>
          <a:xfrm>
            <a:off x="3848669" y="477672"/>
            <a:ext cx="0" cy="56401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123198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jouet, statue, art&#10;&#10;Description générée automatiquement">
            <a:extLst>
              <a:ext uri="{FF2B5EF4-FFF2-40B4-BE49-F238E27FC236}">
                <a16:creationId xmlns:a16="http://schemas.microsoft.com/office/drawing/2014/main" id="{A07F8639-4679-47D9-2F3D-0A15F9200F84}"/>
              </a:ext>
            </a:extLst>
          </p:cNvPr>
          <p:cNvPicPr>
            <a:picLocks noChangeAspect="1"/>
          </p:cNvPicPr>
          <p:nvPr/>
        </p:nvPicPr>
        <p:blipFill rotWithShape="1">
          <a:blip r:embed="rId2">
            <a:extLst>
              <a:ext uri="{28A0092B-C50C-407E-A947-70E740481C1C}">
                <a14:useLocalDpi xmlns:a14="http://schemas.microsoft.com/office/drawing/2010/main" val="0"/>
              </a:ext>
            </a:extLst>
          </a:blip>
          <a:srcRect l="6547" r="8909" b="5978"/>
          <a:stretch/>
        </p:blipFill>
        <p:spPr>
          <a:xfrm>
            <a:off x="154980" y="247729"/>
            <a:ext cx="3877494" cy="6448017"/>
          </a:xfrm>
          <a:prstGeom prst="rect">
            <a:avLst/>
          </a:prstGeom>
        </p:spPr>
      </p:pic>
      <p:cxnSp>
        <p:nvCxnSpPr>
          <p:cNvPr id="5" name="Connecteur droit 4">
            <a:extLst>
              <a:ext uri="{FF2B5EF4-FFF2-40B4-BE49-F238E27FC236}">
                <a16:creationId xmlns:a16="http://schemas.microsoft.com/office/drawing/2014/main" id="{02C2E1E5-0BFD-7064-9817-7DA04D710D96}"/>
              </a:ext>
            </a:extLst>
          </p:cNvPr>
          <p:cNvCxnSpPr/>
          <p:nvPr/>
        </p:nvCxnSpPr>
        <p:spPr>
          <a:xfrm>
            <a:off x="4032474" y="595803"/>
            <a:ext cx="0" cy="5751871"/>
          </a:xfrm>
          <a:prstGeom prst="line">
            <a:avLst/>
          </a:prstGeom>
        </p:spPr>
        <p:style>
          <a:lnRef idx="3">
            <a:schemeClr val="dk1"/>
          </a:lnRef>
          <a:fillRef idx="0">
            <a:schemeClr val="dk1"/>
          </a:fillRef>
          <a:effectRef idx="2">
            <a:schemeClr val="dk1"/>
          </a:effectRef>
          <a:fontRef idx="minor">
            <a:schemeClr val="tx1"/>
          </a:fontRef>
        </p:style>
      </p:cxnSp>
      <p:pic>
        <p:nvPicPr>
          <p:cNvPr id="7" name="Image 6" descr="Une image contenant texte, capture d’écran, diagramme, Parallèle&#10;&#10;Description générée automatiquement">
            <a:extLst>
              <a:ext uri="{FF2B5EF4-FFF2-40B4-BE49-F238E27FC236}">
                <a16:creationId xmlns:a16="http://schemas.microsoft.com/office/drawing/2014/main" id="{4ADA6CAD-7B6E-F737-9F9C-4C5D490A9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0574" y="681281"/>
            <a:ext cx="6876941" cy="5666393"/>
          </a:xfrm>
          <a:prstGeom prst="rect">
            <a:avLst/>
          </a:prstGeom>
        </p:spPr>
      </p:pic>
      <p:sp>
        <p:nvSpPr>
          <p:cNvPr id="8" name="Rectangle 7">
            <a:extLst>
              <a:ext uri="{FF2B5EF4-FFF2-40B4-BE49-F238E27FC236}">
                <a16:creationId xmlns:a16="http://schemas.microsoft.com/office/drawing/2014/main" id="{B18E11AF-590E-BFB3-2096-79905D7CA149}"/>
              </a:ext>
            </a:extLst>
          </p:cNvPr>
          <p:cNvSpPr/>
          <p:nvPr/>
        </p:nvSpPr>
        <p:spPr>
          <a:xfrm>
            <a:off x="9321421" y="395786"/>
            <a:ext cx="1856094"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dirty="0"/>
          </a:p>
        </p:txBody>
      </p:sp>
    </p:spTree>
    <p:extLst>
      <p:ext uri="{BB962C8B-B14F-4D97-AF65-F5344CB8AC3E}">
        <p14:creationId xmlns:p14="http://schemas.microsoft.com/office/powerpoint/2010/main" val="1288956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 2" descr="Une image contenant jouet, dessin humoristique, arme, figurine&#10;&#10;Description générée automatiquement">
            <a:extLst>
              <a:ext uri="{FF2B5EF4-FFF2-40B4-BE49-F238E27FC236}">
                <a16:creationId xmlns:a16="http://schemas.microsoft.com/office/drawing/2014/main" id="{C19D9985-CDB6-5740-6B85-87EE88789751}"/>
              </a:ext>
            </a:extLst>
          </p:cNvPr>
          <p:cNvPicPr>
            <a:picLocks noChangeAspect="1"/>
          </p:cNvPicPr>
          <p:nvPr/>
        </p:nvPicPr>
        <p:blipFill rotWithShape="1">
          <a:blip r:embed="rId2">
            <a:extLst>
              <a:ext uri="{28A0092B-C50C-407E-A947-70E740481C1C}">
                <a14:useLocalDpi xmlns:a14="http://schemas.microsoft.com/office/drawing/2010/main" val="0"/>
              </a:ext>
            </a:extLst>
          </a:blip>
          <a:srcRect b="5436"/>
          <a:stretch/>
        </p:blipFill>
        <p:spPr>
          <a:xfrm>
            <a:off x="2522356" y="10"/>
            <a:ext cx="9669642" cy="6857990"/>
          </a:xfrm>
          <a:prstGeom prst="rect">
            <a:avLst/>
          </a:prstGeom>
        </p:spPr>
      </p:pic>
      <p:sp>
        <p:nvSpPr>
          <p:cNvPr id="18" name="Rectangle 1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ZoneTexte 3">
            <a:extLst>
              <a:ext uri="{FF2B5EF4-FFF2-40B4-BE49-F238E27FC236}">
                <a16:creationId xmlns:a16="http://schemas.microsoft.com/office/drawing/2014/main" id="{090D3A4D-194C-25CB-19BC-DE4D294C4EED}"/>
              </a:ext>
            </a:extLst>
          </p:cNvPr>
          <p:cNvSpPr txBox="1"/>
          <p:nvPr/>
        </p:nvSpPr>
        <p:spPr>
          <a:xfrm>
            <a:off x="838200" y="2434201"/>
            <a:ext cx="3822189" cy="3742762"/>
          </a:xfrm>
          <a:prstGeom prst="rect">
            <a:avLst/>
          </a:prstGeom>
        </p:spPr>
        <p:txBody>
          <a:bodyPr vert="horz" lIns="91440" tIns="45720" rIns="91440" bIns="45720" rtlCol="0">
            <a:normAutofit/>
          </a:bodyPr>
          <a:lstStyle/>
          <a:p>
            <a:pPr>
              <a:lnSpc>
                <a:spcPct val="90000"/>
              </a:lnSpc>
              <a:spcAft>
                <a:spcPts val="600"/>
              </a:spcAft>
            </a:pPr>
            <a:r>
              <a:rPr lang="en-US" sz="2000" b="1" dirty="0"/>
              <a:t>CONCEPTION DU ROBOT </a:t>
            </a:r>
          </a:p>
          <a:p>
            <a:pPr>
              <a:lnSpc>
                <a:spcPct val="90000"/>
              </a:lnSpc>
              <a:spcAft>
                <a:spcPts val="600"/>
              </a:spcAft>
            </a:pPr>
            <a:r>
              <a:rPr lang="en-US" sz="2000" b="1" dirty="0"/>
              <a:t>( MATÉRIEL UTILISÉ )</a:t>
            </a:r>
          </a:p>
        </p:txBody>
      </p:sp>
    </p:spTree>
    <p:extLst>
      <p:ext uri="{BB962C8B-B14F-4D97-AF65-F5344CB8AC3E}">
        <p14:creationId xmlns:p14="http://schemas.microsoft.com/office/powerpoint/2010/main" val="667636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eur droit 2">
            <a:extLst>
              <a:ext uri="{FF2B5EF4-FFF2-40B4-BE49-F238E27FC236}">
                <a16:creationId xmlns:a16="http://schemas.microsoft.com/office/drawing/2014/main" id="{59BAC4F7-7ECC-C7E0-6989-0A62FB6727B7}"/>
              </a:ext>
            </a:extLst>
          </p:cNvPr>
          <p:cNvCxnSpPr/>
          <p:nvPr/>
        </p:nvCxnSpPr>
        <p:spPr>
          <a:xfrm>
            <a:off x="4872251" y="409433"/>
            <a:ext cx="0" cy="5691116"/>
          </a:xfrm>
          <a:prstGeom prst="line">
            <a:avLst/>
          </a:prstGeom>
        </p:spPr>
        <p:style>
          <a:lnRef idx="3">
            <a:schemeClr val="dk1"/>
          </a:lnRef>
          <a:fillRef idx="0">
            <a:schemeClr val="dk1"/>
          </a:fillRef>
          <a:effectRef idx="2">
            <a:schemeClr val="dk1"/>
          </a:effectRef>
          <a:fontRef idx="minor">
            <a:schemeClr val="tx1"/>
          </a:fontRef>
        </p:style>
      </p:cxnSp>
      <p:sp>
        <p:nvSpPr>
          <p:cNvPr id="4" name="ZoneTexte 3">
            <a:extLst>
              <a:ext uri="{FF2B5EF4-FFF2-40B4-BE49-F238E27FC236}">
                <a16:creationId xmlns:a16="http://schemas.microsoft.com/office/drawing/2014/main" id="{4617AC33-1F45-8A80-4E3B-BEC11FF90C99}"/>
              </a:ext>
            </a:extLst>
          </p:cNvPr>
          <p:cNvSpPr txBox="1"/>
          <p:nvPr/>
        </p:nvSpPr>
        <p:spPr>
          <a:xfrm>
            <a:off x="661918" y="5234338"/>
            <a:ext cx="3903257" cy="369332"/>
          </a:xfrm>
          <a:prstGeom prst="rect">
            <a:avLst/>
          </a:prstGeom>
          <a:noFill/>
        </p:spPr>
        <p:txBody>
          <a:bodyPr wrap="square" rtlCol="0">
            <a:spAutoFit/>
          </a:bodyPr>
          <a:lstStyle/>
          <a:p>
            <a:r>
              <a:rPr lang="fr-FR" b="1" dirty="0"/>
              <a:t>Châssis de voiture ( 03 roues) </a:t>
            </a:r>
            <a:endParaRPr lang="fr-CA" b="1" dirty="0"/>
          </a:p>
        </p:txBody>
      </p:sp>
      <p:sp>
        <p:nvSpPr>
          <p:cNvPr id="5" name="ZoneTexte 4">
            <a:extLst>
              <a:ext uri="{FF2B5EF4-FFF2-40B4-BE49-F238E27FC236}">
                <a16:creationId xmlns:a16="http://schemas.microsoft.com/office/drawing/2014/main" id="{5A504CAE-6302-0D8C-07B9-FC11D09BB5F1}"/>
              </a:ext>
            </a:extLst>
          </p:cNvPr>
          <p:cNvSpPr txBox="1"/>
          <p:nvPr/>
        </p:nvSpPr>
        <p:spPr>
          <a:xfrm>
            <a:off x="5431810" y="2593271"/>
            <a:ext cx="5677453" cy="1323439"/>
          </a:xfrm>
          <a:prstGeom prst="rect">
            <a:avLst/>
          </a:prstGeom>
          <a:noFill/>
        </p:spPr>
        <p:txBody>
          <a:bodyPr wrap="square" rtlCol="0">
            <a:spAutoFit/>
          </a:bodyPr>
          <a:lstStyle/>
          <a:p>
            <a:pPr algn="just"/>
            <a:r>
              <a:rPr lang="fr-FR" sz="2000" b="1" dirty="0">
                <a:effectLst/>
                <a:ea typeface="Calibri" panose="020F0502020204030204" pitchFamily="34" charset="0"/>
              </a:rPr>
              <a:t>Le châssis est la structure de base du robot. Il sert de support pour tous les autres composants, y compris les moteurs, la carte Arduino, les capteurs et les batteries.</a:t>
            </a:r>
            <a:endParaRPr lang="fr-CA" sz="2000" b="1" dirty="0"/>
          </a:p>
        </p:txBody>
      </p:sp>
      <p:pic>
        <p:nvPicPr>
          <p:cNvPr id="7" name="Image 6" descr="Une image contenant Pièce auto, roue, pneu, Caoutchouc synthétique&#10;&#10;Description générée automatiquement">
            <a:extLst>
              <a:ext uri="{FF2B5EF4-FFF2-40B4-BE49-F238E27FC236}">
                <a16:creationId xmlns:a16="http://schemas.microsoft.com/office/drawing/2014/main" id="{6943D926-6018-7D43-EE86-90AAB9E0B7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235" y="1710683"/>
            <a:ext cx="3936144" cy="3038738"/>
          </a:xfrm>
          <a:prstGeom prst="rect">
            <a:avLst/>
          </a:prstGeom>
        </p:spPr>
      </p:pic>
    </p:spTree>
    <p:extLst>
      <p:ext uri="{BB962C8B-B14F-4D97-AF65-F5344CB8AC3E}">
        <p14:creationId xmlns:p14="http://schemas.microsoft.com/office/powerpoint/2010/main" val="2770366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eur droit 2">
            <a:extLst>
              <a:ext uri="{FF2B5EF4-FFF2-40B4-BE49-F238E27FC236}">
                <a16:creationId xmlns:a16="http://schemas.microsoft.com/office/drawing/2014/main" id="{59BAC4F7-7ECC-C7E0-6989-0A62FB6727B7}"/>
              </a:ext>
            </a:extLst>
          </p:cNvPr>
          <p:cNvCxnSpPr/>
          <p:nvPr/>
        </p:nvCxnSpPr>
        <p:spPr>
          <a:xfrm>
            <a:off x="4872251" y="409433"/>
            <a:ext cx="0" cy="5691116"/>
          </a:xfrm>
          <a:prstGeom prst="line">
            <a:avLst/>
          </a:prstGeom>
        </p:spPr>
        <p:style>
          <a:lnRef idx="3">
            <a:schemeClr val="dk1"/>
          </a:lnRef>
          <a:fillRef idx="0">
            <a:schemeClr val="dk1"/>
          </a:fillRef>
          <a:effectRef idx="2">
            <a:schemeClr val="dk1"/>
          </a:effectRef>
          <a:fontRef idx="minor">
            <a:schemeClr val="tx1"/>
          </a:fontRef>
        </p:style>
      </p:cxnSp>
      <p:sp>
        <p:nvSpPr>
          <p:cNvPr id="4" name="ZoneTexte 3">
            <a:extLst>
              <a:ext uri="{FF2B5EF4-FFF2-40B4-BE49-F238E27FC236}">
                <a16:creationId xmlns:a16="http://schemas.microsoft.com/office/drawing/2014/main" id="{4617AC33-1F45-8A80-4E3B-BEC11FF90C99}"/>
              </a:ext>
            </a:extLst>
          </p:cNvPr>
          <p:cNvSpPr txBox="1"/>
          <p:nvPr/>
        </p:nvSpPr>
        <p:spPr>
          <a:xfrm>
            <a:off x="661918" y="5234338"/>
            <a:ext cx="3903257" cy="369332"/>
          </a:xfrm>
          <a:prstGeom prst="rect">
            <a:avLst/>
          </a:prstGeom>
          <a:noFill/>
        </p:spPr>
        <p:txBody>
          <a:bodyPr wrap="square" rtlCol="0">
            <a:spAutoFit/>
          </a:bodyPr>
          <a:lstStyle/>
          <a:p>
            <a:r>
              <a:rPr lang="fr-FR" b="1" dirty="0"/>
              <a:t>           Carte Arduino UNO</a:t>
            </a:r>
            <a:endParaRPr lang="fr-CA" b="1" dirty="0"/>
          </a:p>
        </p:txBody>
      </p:sp>
      <p:sp>
        <p:nvSpPr>
          <p:cNvPr id="5" name="ZoneTexte 4">
            <a:extLst>
              <a:ext uri="{FF2B5EF4-FFF2-40B4-BE49-F238E27FC236}">
                <a16:creationId xmlns:a16="http://schemas.microsoft.com/office/drawing/2014/main" id="{5A504CAE-6302-0D8C-07B9-FC11D09BB5F1}"/>
              </a:ext>
            </a:extLst>
          </p:cNvPr>
          <p:cNvSpPr txBox="1"/>
          <p:nvPr/>
        </p:nvSpPr>
        <p:spPr>
          <a:xfrm>
            <a:off x="5554644" y="1083037"/>
            <a:ext cx="5677453" cy="4926605"/>
          </a:xfrm>
          <a:prstGeom prst="rect">
            <a:avLst/>
          </a:prstGeom>
          <a:noFill/>
        </p:spPr>
        <p:txBody>
          <a:bodyPr wrap="square" rtlCol="0">
            <a:spAutoFit/>
          </a:bodyPr>
          <a:lstStyle/>
          <a:p>
            <a:pPr algn="just">
              <a:lnSpc>
                <a:spcPct val="107000"/>
              </a:lnSpc>
              <a:spcAft>
                <a:spcPts val="800"/>
              </a:spcAft>
            </a:pPr>
            <a:r>
              <a:rPr lang="fr-FR" sz="1800" dirty="0">
                <a:effectLst/>
                <a:ea typeface="Calibri" panose="020F0502020204030204" pitchFamily="34" charset="0"/>
                <a:cs typeface="Calibri" panose="020F0502020204030204" pitchFamily="34" charset="0"/>
              </a:rPr>
              <a:t> La carte Arduino Uno est le microcontrôleur qui sert de cerveau au robot. Elle est programmée pour contrôler les moteurs et lire les capteurs. Les broches importantes sur l’Arduino Uno sont :</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Broches Numériques (0-13)</a:t>
            </a:r>
            <a:r>
              <a:rPr lang="fr-FR" sz="1800" dirty="0">
                <a:effectLst/>
                <a:ea typeface="Calibri" panose="020F0502020204030204" pitchFamily="34" charset="0"/>
                <a:cs typeface="Calibri" panose="020F0502020204030204" pitchFamily="34" charset="0"/>
              </a:rPr>
              <a:t> : Utilisées pour contrôler les drivers de moteur et lire les capteurs.</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Broches Analogiques (A0-A5)</a:t>
            </a:r>
            <a:r>
              <a:rPr lang="fr-FR" sz="1800" dirty="0">
                <a:effectLst/>
                <a:ea typeface="Calibri" panose="020F0502020204030204" pitchFamily="34" charset="0"/>
                <a:cs typeface="Calibri" panose="020F0502020204030204" pitchFamily="34" charset="0"/>
              </a:rPr>
              <a:t> : Utilisées pour lire les capteurs analogiques si nécessaire.</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5V et GND</a:t>
            </a:r>
            <a:r>
              <a:rPr lang="fr-FR" sz="1800" dirty="0">
                <a:effectLst/>
                <a:ea typeface="Calibri" panose="020F0502020204030204" pitchFamily="34" charset="0"/>
                <a:cs typeface="Calibri" panose="020F0502020204030204" pitchFamily="34" charset="0"/>
              </a:rPr>
              <a:t> : Pour alimenter les composants du robot.</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Vin et Jack d’Alimentation</a:t>
            </a:r>
            <a:r>
              <a:rPr lang="fr-FR" sz="1800" dirty="0">
                <a:effectLst/>
                <a:ea typeface="Calibri" panose="020F0502020204030204" pitchFamily="34" charset="0"/>
                <a:cs typeface="Calibri" panose="020F0502020204030204" pitchFamily="34" charset="0"/>
              </a:rPr>
              <a:t> : Pour alimenter la carte Arduino avec une source externe.</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RESET</a:t>
            </a:r>
            <a:r>
              <a:rPr lang="fr-FR" sz="1800" dirty="0">
                <a:effectLst/>
                <a:ea typeface="Calibri" panose="020F0502020204030204" pitchFamily="34" charset="0"/>
                <a:cs typeface="Calibri" panose="020F0502020204030204" pitchFamily="34" charset="0"/>
              </a:rPr>
              <a:t> : Pour réinitialiser le programme de la carte Arduino.</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ICSP Header</a:t>
            </a:r>
            <a:r>
              <a:rPr lang="fr-FR" sz="1800" dirty="0">
                <a:effectLst/>
                <a:ea typeface="Calibri" panose="020F0502020204030204" pitchFamily="34" charset="0"/>
                <a:cs typeface="Calibri" panose="020F0502020204030204" pitchFamily="34" charset="0"/>
              </a:rPr>
              <a:t> : Pour la programmation avancée de la carte Arduino.</a:t>
            </a:r>
            <a:endParaRPr lang="fr-CA" sz="1800" dirty="0">
              <a:effectLst/>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id="{6943D926-6018-7D43-EE86-90AAB9E0B76A}"/>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9781"/>
          <a:stretch/>
        </p:blipFill>
        <p:spPr>
          <a:xfrm>
            <a:off x="248549" y="1757279"/>
            <a:ext cx="3634233" cy="3278746"/>
          </a:xfrm>
          <a:prstGeom prst="rect">
            <a:avLst/>
          </a:prstGeom>
        </p:spPr>
      </p:pic>
    </p:spTree>
    <p:extLst>
      <p:ext uri="{BB962C8B-B14F-4D97-AF65-F5344CB8AC3E}">
        <p14:creationId xmlns:p14="http://schemas.microsoft.com/office/powerpoint/2010/main" val="3224383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eur droit 2">
            <a:extLst>
              <a:ext uri="{FF2B5EF4-FFF2-40B4-BE49-F238E27FC236}">
                <a16:creationId xmlns:a16="http://schemas.microsoft.com/office/drawing/2014/main" id="{59BAC4F7-7ECC-C7E0-6989-0A62FB6727B7}"/>
              </a:ext>
            </a:extLst>
          </p:cNvPr>
          <p:cNvCxnSpPr/>
          <p:nvPr/>
        </p:nvCxnSpPr>
        <p:spPr>
          <a:xfrm>
            <a:off x="4872251" y="409433"/>
            <a:ext cx="0" cy="5691116"/>
          </a:xfrm>
          <a:prstGeom prst="line">
            <a:avLst/>
          </a:prstGeom>
        </p:spPr>
        <p:style>
          <a:lnRef idx="3">
            <a:schemeClr val="dk1"/>
          </a:lnRef>
          <a:fillRef idx="0">
            <a:schemeClr val="dk1"/>
          </a:fillRef>
          <a:effectRef idx="2">
            <a:schemeClr val="dk1"/>
          </a:effectRef>
          <a:fontRef idx="minor">
            <a:schemeClr val="tx1"/>
          </a:fontRef>
        </p:style>
      </p:cxnSp>
      <p:sp>
        <p:nvSpPr>
          <p:cNvPr id="4" name="ZoneTexte 3">
            <a:extLst>
              <a:ext uri="{FF2B5EF4-FFF2-40B4-BE49-F238E27FC236}">
                <a16:creationId xmlns:a16="http://schemas.microsoft.com/office/drawing/2014/main" id="{4617AC33-1F45-8A80-4E3B-BEC11FF90C99}"/>
              </a:ext>
            </a:extLst>
          </p:cNvPr>
          <p:cNvSpPr txBox="1"/>
          <p:nvPr/>
        </p:nvSpPr>
        <p:spPr>
          <a:xfrm>
            <a:off x="742058" y="5097861"/>
            <a:ext cx="3903257" cy="369332"/>
          </a:xfrm>
          <a:prstGeom prst="rect">
            <a:avLst/>
          </a:prstGeom>
          <a:noFill/>
        </p:spPr>
        <p:txBody>
          <a:bodyPr wrap="square" rtlCol="0">
            <a:spAutoFit/>
          </a:bodyPr>
          <a:lstStyle/>
          <a:p>
            <a:r>
              <a:rPr lang="fr-FR" b="1" dirty="0"/>
              <a:t>                     Un servomoteur </a:t>
            </a:r>
            <a:endParaRPr lang="fr-CA" b="1" dirty="0"/>
          </a:p>
        </p:txBody>
      </p:sp>
      <p:sp>
        <p:nvSpPr>
          <p:cNvPr id="5" name="ZoneTexte 4">
            <a:extLst>
              <a:ext uri="{FF2B5EF4-FFF2-40B4-BE49-F238E27FC236}">
                <a16:creationId xmlns:a16="http://schemas.microsoft.com/office/drawing/2014/main" id="{5A504CAE-6302-0D8C-07B9-FC11D09BB5F1}"/>
              </a:ext>
            </a:extLst>
          </p:cNvPr>
          <p:cNvSpPr txBox="1"/>
          <p:nvPr/>
        </p:nvSpPr>
        <p:spPr>
          <a:xfrm>
            <a:off x="5431810" y="2593271"/>
            <a:ext cx="5677453" cy="1938992"/>
          </a:xfrm>
          <a:prstGeom prst="rect">
            <a:avLst/>
          </a:prstGeom>
          <a:noFill/>
        </p:spPr>
        <p:txBody>
          <a:bodyPr wrap="square" rtlCol="0">
            <a:spAutoFit/>
          </a:bodyPr>
          <a:lstStyle/>
          <a:p>
            <a:pPr algn="just"/>
            <a:r>
              <a:rPr lang="fr-FR" sz="2000" b="1" dirty="0">
                <a:effectLst/>
                <a:ea typeface="Calibri" panose="020F0502020204030204" pitchFamily="34" charset="0"/>
              </a:rPr>
              <a:t>Un servomoteur est un type de moteur qui permet un contrôle précis de l’angle ou de la vitesse. Il est souvent utilisé dans les robots pour contrôler le mouvement des articulations ou pour orienter des capteurs et des instruments</a:t>
            </a:r>
            <a:endParaRPr lang="fr-CA" sz="2000" b="1" dirty="0"/>
          </a:p>
        </p:txBody>
      </p:sp>
      <p:pic>
        <p:nvPicPr>
          <p:cNvPr id="7" name="Image 6">
            <a:extLst>
              <a:ext uri="{FF2B5EF4-FFF2-40B4-BE49-F238E27FC236}">
                <a16:creationId xmlns:a16="http://schemas.microsoft.com/office/drawing/2014/main" id="{6943D926-6018-7D43-EE86-90AAB9E0B76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2235" y="1753221"/>
            <a:ext cx="3936144" cy="2953662"/>
          </a:xfrm>
          <a:prstGeom prst="rect">
            <a:avLst/>
          </a:prstGeom>
        </p:spPr>
      </p:pic>
    </p:spTree>
    <p:extLst>
      <p:ext uri="{BB962C8B-B14F-4D97-AF65-F5344CB8AC3E}">
        <p14:creationId xmlns:p14="http://schemas.microsoft.com/office/powerpoint/2010/main" val="202317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eur droit 2">
            <a:extLst>
              <a:ext uri="{FF2B5EF4-FFF2-40B4-BE49-F238E27FC236}">
                <a16:creationId xmlns:a16="http://schemas.microsoft.com/office/drawing/2014/main" id="{59BAC4F7-7ECC-C7E0-6989-0A62FB6727B7}"/>
              </a:ext>
            </a:extLst>
          </p:cNvPr>
          <p:cNvCxnSpPr/>
          <p:nvPr/>
        </p:nvCxnSpPr>
        <p:spPr>
          <a:xfrm>
            <a:off x="4872251" y="409433"/>
            <a:ext cx="0" cy="5691116"/>
          </a:xfrm>
          <a:prstGeom prst="line">
            <a:avLst/>
          </a:prstGeom>
        </p:spPr>
        <p:style>
          <a:lnRef idx="3">
            <a:schemeClr val="dk1"/>
          </a:lnRef>
          <a:fillRef idx="0">
            <a:schemeClr val="dk1"/>
          </a:fillRef>
          <a:effectRef idx="2">
            <a:schemeClr val="dk1"/>
          </a:effectRef>
          <a:fontRef idx="minor">
            <a:schemeClr val="tx1"/>
          </a:fontRef>
        </p:style>
      </p:cxnSp>
      <p:sp>
        <p:nvSpPr>
          <p:cNvPr id="4" name="ZoneTexte 3">
            <a:extLst>
              <a:ext uri="{FF2B5EF4-FFF2-40B4-BE49-F238E27FC236}">
                <a16:creationId xmlns:a16="http://schemas.microsoft.com/office/drawing/2014/main" id="{4617AC33-1F45-8A80-4E3B-BEC11FF90C99}"/>
              </a:ext>
            </a:extLst>
          </p:cNvPr>
          <p:cNvSpPr txBox="1"/>
          <p:nvPr/>
        </p:nvSpPr>
        <p:spPr>
          <a:xfrm>
            <a:off x="661918" y="5234338"/>
            <a:ext cx="3903257" cy="369332"/>
          </a:xfrm>
          <a:prstGeom prst="rect">
            <a:avLst/>
          </a:prstGeom>
          <a:noFill/>
        </p:spPr>
        <p:txBody>
          <a:bodyPr wrap="square" rtlCol="0">
            <a:spAutoFit/>
          </a:bodyPr>
          <a:lstStyle/>
          <a:p>
            <a:r>
              <a:rPr lang="fr-FR" sz="1800" b="1" dirty="0">
                <a:effectLst/>
                <a:ea typeface="Times New Roman" panose="02020603050405020304" pitchFamily="18" charset="0"/>
                <a:cs typeface="Times New Roman" panose="02020603050405020304" pitchFamily="18" charset="0"/>
              </a:rPr>
              <a:t>Driver de Moteur L298N</a:t>
            </a:r>
            <a:r>
              <a:rPr lang="fr-FR" sz="1800" b="1" dirty="0">
                <a:effectLst/>
                <a:ea typeface="Calibri" panose="020F0502020204030204" pitchFamily="34" charset="0"/>
              </a:rPr>
              <a:t> </a:t>
            </a:r>
            <a:endParaRPr lang="fr-CA" b="1" dirty="0"/>
          </a:p>
        </p:txBody>
      </p:sp>
      <p:sp>
        <p:nvSpPr>
          <p:cNvPr id="5" name="ZoneTexte 4">
            <a:extLst>
              <a:ext uri="{FF2B5EF4-FFF2-40B4-BE49-F238E27FC236}">
                <a16:creationId xmlns:a16="http://schemas.microsoft.com/office/drawing/2014/main" id="{5A504CAE-6302-0D8C-07B9-FC11D09BB5F1}"/>
              </a:ext>
            </a:extLst>
          </p:cNvPr>
          <p:cNvSpPr txBox="1"/>
          <p:nvPr/>
        </p:nvSpPr>
        <p:spPr>
          <a:xfrm>
            <a:off x="5467750" y="1078370"/>
            <a:ext cx="5677453" cy="5222968"/>
          </a:xfrm>
          <a:prstGeom prst="rect">
            <a:avLst/>
          </a:prstGeom>
          <a:noFill/>
        </p:spPr>
        <p:txBody>
          <a:bodyPr wrap="square" rtlCol="0">
            <a:spAutoFit/>
          </a:bodyPr>
          <a:lstStyle/>
          <a:p>
            <a:pPr algn="just">
              <a:lnSpc>
                <a:spcPct val="107000"/>
              </a:lnSpc>
              <a:spcAft>
                <a:spcPts val="800"/>
              </a:spcAft>
            </a:pPr>
            <a:r>
              <a:rPr lang="fr-FR" sz="1800" dirty="0">
                <a:effectLst/>
                <a:ea typeface="Calibri" panose="020F0502020204030204" pitchFamily="34" charset="0"/>
                <a:cs typeface="Calibri" panose="020F0502020204030204" pitchFamily="34" charset="0"/>
              </a:rPr>
              <a:t>Le L298N est un driver de moteur qui permet de contrôler les moteurs DC en même temps. Il peut contrôler la direction et la vitesse de chaque moteur indépendamment. Les broches importantes sur le L298N sont :</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Bornes Moteur (OUT1, OUT2, OUT3, OUT4)</a:t>
            </a:r>
            <a:r>
              <a:rPr lang="fr-FR" sz="1800" dirty="0">
                <a:effectLst/>
                <a:ea typeface="Calibri" panose="020F0502020204030204" pitchFamily="34" charset="0"/>
                <a:cs typeface="Calibri" panose="020F0502020204030204" pitchFamily="34" charset="0"/>
              </a:rPr>
              <a:t> : Connectez ces bornes aux moteurs DC.</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Entrées de Commande (IN1, IN2, IN3, IN4)</a:t>
            </a:r>
            <a:r>
              <a:rPr lang="fr-FR" sz="1800" dirty="0">
                <a:effectLst/>
                <a:ea typeface="Calibri" panose="020F0502020204030204" pitchFamily="34" charset="0"/>
                <a:cs typeface="Calibri" panose="020F0502020204030204" pitchFamily="34" charset="0"/>
              </a:rPr>
              <a:t> : Connectez ces broches aux sorties numériques de la carte Arduino pour contrôler la direction des moteurs.</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Alimentation (12V, GND)</a:t>
            </a:r>
            <a:r>
              <a:rPr lang="fr-FR" sz="1800" dirty="0">
                <a:effectLst/>
                <a:ea typeface="Calibri" panose="020F0502020204030204" pitchFamily="34" charset="0"/>
                <a:cs typeface="Calibri" panose="020F0502020204030204" pitchFamily="34" charset="0"/>
              </a:rPr>
              <a:t> : Connectez à la source d’alimentation pour les moteurs.</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5V</a:t>
            </a:r>
            <a:r>
              <a:rPr lang="fr-FR" sz="1800" dirty="0">
                <a:effectLst/>
                <a:ea typeface="Calibri" panose="020F0502020204030204" pitchFamily="34" charset="0"/>
                <a:cs typeface="Calibri" panose="020F0502020204030204" pitchFamily="34" charset="0"/>
              </a:rPr>
              <a:t> : Sortie 5V si nécessaire pour alimenter d’autres composants.</a:t>
            </a:r>
            <a:endParaRPr lang="fr-CA" sz="1800" dirty="0">
              <a:effectLst/>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fr-FR" sz="1800" b="1" dirty="0">
                <a:effectLst/>
                <a:ea typeface="Calibri" panose="020F0502020204030204" pitchFamily="34" charset="0"/>
                <a:cs typeface="Calibri" panose="020F0502020204030204" pitchFamily="34" charset="0"/>
              </a:rPr>
              <a:t>Enable Pins (EN)</a:t>
            </a:r>
            <a:r>
              <a:rPr lang="fr-FR" sz="1800" dirty="0">
                <a:effectLst/>
                <a:ea typeface="Calibri" panose="020F0502020204030204" pitchFamily="34" charset="0"/>
                <a:cs typeface="Calibri" panose="020F0502020204030204" pitchFamily="34" charset="0"/>
              </a:rPr>
              <a:t> : Utilisées pour contrôler la vitesse des moteurs via PWM depuis la carte Arduino.</a:t>
            </a:r>
            <a:endParaRPr lang="fr-CA" sz="1800" dirty="0">
              <a:effectLst/>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id="{6943D926-6018-7D43-EE86-90AAB9E0B76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0938" y="1710683"/>
            <a:ext cx="3038738" cy="3038738"/>
          </a:xfrm>
          <a:prstGeom prst="rect">
            <a:avLst/>
          </a:prstGeom>
        </p:spPr>
      </p:pic>
    </p:spTree>
    <p:extLst>
      <p:ext uri="{BB962C8B-B14F-4D97-AF65-F5344CB8AC3E}">
        <p14:creationId xmlns:p14="http://schemas.microsoft.com/office/powerpoint/2010/main" val="2208285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eur droit 2">
            <a:extLst>
              <a:ext uri="{FF2B5EF4-FFF2-40B4-BE49-F238E27FC236}">
                <a16:creationId xmlns:a16="http://schemas.microsoft.com/office/drawing/2014/main" id="{59BAC4F7-7ECC-C7E0-6989-0A62FB6727B7}"/>
              </a:ext>
            </a:extLst>
          </p:cNvPr>
          <p:cNvCxnSpPr/>
          <p:nvPr/>
        </p:nvCxnSpPr>
        <p:spPr>
          <a:xfrm>
            <a:off x="5909481" y="583442"/>
            <a:ext cx="0" cy="5691116"/>
          </a:xfrm>
          <a:prstGeom prst="line">
            <a:avLst/>
          </a:prstGeom>
        </p:spPr>
        <p:style>
          <a:lnRef idx="3">
            <a:schemeClr val="dk1"/>
          </a:lnRef>
          <a:fillRef idx="0">
            <a:schemeClr val="dk1"/>
          </a:fillRef>
          <a:effectRef idx="2">
            <a:schemeClr val="dk1"/>
          </a:effectRef>
          <a:fontRef idx="minor">
            <a:schemeClr val="tx1"/>
          </a:fontRef>
        </p:style>
      </p:cxnSp>
      <p:sp>
        <p:nvSpPr>
          <p:cNvPr id="4" name="ZoneTexte 3">
            <a:extLst>
              <a:ext uri="{FF2B5EF4-FFF2-40B4-BE49-F238E27FC236}">
                <a16:creationId xmlns:a16="http://schemas.microsoft.com/office/drawing/2014/main" id="{4617AC33-1F45-8A80-4E3B-BEC11FF90C99}"/>
              </a:ext>
            </a:extLst>
          </p:cNvPr>
          <p:cNvSpPr txBox="1"/>
          <p:nvPr/>
        </p:nvSpPr>
        <p:spPr>
          <a:xfrm>
            <a:off x="1835626" y="5403615"/>
            <a:ext cx="3903257" cy="369332"/>
          </a:xfrm>
          <a:prstGeom prst="rect">
            <a:avLst/>
          </a:prstGeom>
          <a:noFill/>
        </p:spPr>
        <p:txBody>
          <a:bodyPr wrap="square" rtlCol="0">
            <a:spAutoFit/>
          </a:bodyPr>
          <a:lstStyle/>
          <a:p>
            <a:r>
              <a:rPr lang="fr-FR" b="1" dirty="0"/>
              <a:t>Connecteurs </a:t>
            </a:r>
            <a:endParaRPr lang="fr-CA" b="1" dirty="0"/>
          </a:p>
        </p:txBody>
      </p:sp>
      <p:sp>
        <p:nvSpPr>
          <p:cNvPr id="5" name="ZoneTexte 4">
            <a:extLst>
              <a:ext uri="{FF2B5EF4-FFF2-40B4-BE49-F238E27FC236}">
                <a16:creationId xmlns:a16="http://schemas.microsoft.com/office/drawing/2014/main" id="{5A504CAE-6302-0D8C-07B9-FC11D09BB5F1}"/>
              </a:ext>
            </a:extLst>
          </p:cNvPr>
          <p:cNvSpPr txBox="1"/>
          <p:nvPr/>
        </p:nvSpPr>
        <p:spPr>
          <a:xfrm>
            <a:off x="7670043" y="5403615"/>
            <a:ext cx="5677453" cy="400110"/>
          </a:xfrm>
          <a:prstGeom prst="rect">
            <a:avLst/>
          </a:prstGeom>
          <a:noFill/>
        </p:spPr>
        <p:txBody>
          <a:bodyPr wrap="square" rtlCol="0">
            <a:spAutoFit/>
          </a:bodyPr>
          <a:lstStyle/>
          <a:p>
            <a:pPr algn="just"/>
            <a:r>
              <a:rPr lang="fr-FR" sz="2000" b="1" dirty="0"/>
              <a:t>batteries</a:t>
            </a:r>
            <a:endParaRPr lang="fr-CA" sz="2000" b="1" dirty="0"/>
          </a:p>
        </p:txBody>
      </p:sp>
      <p:pic>
        <p:nvPicPr>
          <p:cNvPr id="7" name="Image 6">
            <a:extLst>
              <a:ext uri="{FF2B5EF4-FFF2-40B4-BE49-F238E27FC236}">
                <a16:creationId xmlns:a16="http://schemas.microsoft.com/office/drawing/2014/main" id="{6943D926-6018-7D43-EE86-90AAB9E0B76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22258" y="1724331"/>
            <a:ext cx="3038738" cy="3038738"/>
          </a:xfrm>
          <a:prstGeom prst="rect">
            <a:avLst/>
          </a:prstGeom>
        </p:spPr>
      </p:pic>
      <p:pic>
        <p:nvPicPr>
          <p:cNvPr id="10" name="Image 9" descr="Une image contenant Appareils électroniques, batterie, texte&#10;&#10;Description générée automatiquement">
            <a:extLst>
              <a:ext uri="{FF2B5EF4-FFF2-40B4-BE49-F238E27FC236}">
                <a16:creationId xmlns:a16="http://schemas.microsoft.com/office/drawing/2014/main" id="{149726B6-AEF6-D997-F1C2-47C4D882703F}"/>
              </a:ext>
            </a:extLst>
          </p:cNvPr>
          <p:cNvPicPr>
            <a:picLocks noChangeAspect="1"/>
          </p:cNvPicPr>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l="17464" r="12522"/>
          <a:stretch/>
        </p:blipFill>
        <p:spPr>
          <a:xfrm>
            <a:off x="6080080" y="1589121"/>
            <a:ext cx="2982032" cy="3161161"/>
          </a:xfrm>
          <a:prstGeom prst="rect">
            <a:avLst/>
          </a:prstGeom>
        </p:spPr>
      </p:pic>
      <p:sp>
        <p:nvSpPr>
          <p:cNvPr id="11" name="ZoneTexte 10">
            <a:extLst>
              <a:ext uri="{FF2B5EF4-FFF2-40B4-BE49-F238E27FC236}">
                <a16:creationId xmlns:a16="http://schemas.microsoft.com/office/drawing/2014/main" id="{0E07970D-D566-5B41-9CE9-09D65BA561CB}"/>
              </a:ext>
            </a:extLst>
          </p:cNvPr>
          <p:cNvSpPr txBox="1"/>
          <p:nvPr/>
        </p:nvSpPr>
        <p:spPr>
          <a:xfrm>
            <a:off x="1524000" y="6858000"/>
            <a:ext cx="9144000" cy="230832"/>
          </a:xfrm>
          <a:prstGeom prst="rect">
            <a:avLst/>
          </a:prstGeom>
          <a:noFill/>
        </p:spPr>
        <p:txBody>
          <a:bodyPr wrap="square" rtlCol="0">
            <a:spAutoFit/>
          </a:bodyPr>
          <a:lstStyle/>
          <a:p>
            <a:r>
              <a:rPr lang="fr-CA" sz="900">
                <a:hlinkClick r:id="rId4" tooltip="https://electronics.stackexchange.com/questions/390531/9v-battery-vs-6xaa-batteries"/>
              </a:rPr>
              <a:t>Cette photo</a:t>
            </a:r>
            <a:r>
              <a:rPr lang="fr-CA" sz="900"/>
              <a:t> par Auteur inconnu est soumise à la licence </a:t>
            </a:r>
            <a:r>
              <a:rPr lang="fr-CA" sz="900">
                <a:hlinkClick r:id="rId5" tooltip="https://creativecommons.org/licenses/by-sa/3.0/"/>
              </a:rPr>
              <a:t>CC BY-SA</a:t>
            </a:r>
            <a:endParaRPr lang="fr-CA" sz="900"/>
          </a:p>
        </p:txBody>
      </p:sp>
      <p:pic>
        <p:nvPicPr>
          <p:cNvPr id="13" name="Image 12" descr="Une image contenant Appareils électroniques, texte, batterie&#10;&#10;Description générée automatiquement">
            <a:extLst>
              <a:ext uri="{FF2B5EF4-FFF2-40B4-BE49-F238E27FC236}">
                <a16:creationId xmlns:a16="http://schemas.microsoft.com/office/drawing/2014/main" id="{5EA8AFC9-94FE-FD60-579F-2F8A31B06C4E}"/>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690817" y="1613988"/>
            <a:ext cx="3144583" cy="3144583"/>
          </a:xfrm>
          <a:prstGeom prst="rect">
            <a:avLst/>
          </a:prstGeom>
        </p:spPr>
      </p:pic>
      <p:sp>
        <p:nvSpPr>
          <p:cNvPr id="14" name="ZoneTexte 13">
            <a:extLst>
              <a:ext uri="{FF2B5EF4-FFF2-40B4-BE49-F238E27FC236}">
                <a16:creationId xmlns:a16="http://schemas.microsoft.com/office/drawing/2014/main" id="{93D9A5F7-C599-4473-1D0D-E2D61518F0C8}"/>
              </a:ext>
            </a:extLst>
          </p:cNvPr>
          <p:cNvSpPr txBox="1"/>
          <p:nvPr/>
        </p:nvSpPr>
        <p:spPr>
          <a:xfrm>
            <a:off x="2817000" y="7008000"/>
            <a:ext cx="6858000" cy="230832"/>
          </a:xfrm>
          <a:prstGeom prst="rect">
            <a:avLst/>
          </a:prstGeom>
          <a:noFill/>
        </p:spPr>
        <p:txBody>
          <a:bodyPr wrap="square" rtlCol="0">
            <a:spAutoFit/>
          </a:bodyPr>
          <a:lstStyle/>
          <a:p>
            <a:r>
              <a:rPr lang="fr-CA" sz="900">
                <a:hlinkClick r:id="rId7" tooltip="http://electronics.stackexchange.com/questions/287385/9v-to-12v-using-buck-booster"/>
              </a:rPr>
              <a:t>Cette photo</a:t>
            </a:r>
            <a:r>
              <a:rPr lang="fr-CA" sz="900"/>
              <a:t> par Auteur inconnu est soumise à la licence </a:t>
            </a:r>
            <a:r>
              <a:rPr lang="fr-CA" sz="900">
                <a:hlinkClick r:id="rId5" tooltip="https://creativecommons.org/licenses/by-sa/3.0/"/>
              </a:rPr>
              <a:t>CC BY-SA</a:t>
            </a:r>
            <a:endParaRPr lang="fr-CA" sz="900"/>
          </a:p>
        </p:txBody>
      </p:sp>
    </p:spTree>
    <p:extLst>
      <p:ext uri="{BB962C8B-B14F-4D97-AF65-F5344CB8AC3E}">
        <p14:creationId xmlns:p14="http://schemas.microsoft.com/office/powerpoint/2010/main" val="1195319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Connecteur droit 2">
            <a:extLst>
              <a:ext uri="{FF2B5EF4-FFF2-40B4-BE49-F238E27FC236}">
                <a16:creationId xmlns:a16="http://schemas.microsoft.com/office/drawing/2014/main" id="{59BAC4F7-7ECC-C7E0-6989-0A62FB6727B7}"/>
              </a:ext>
            </a:extLst>
          </p:cNvPr>
          <p:cNvCxnSpPr/>
          <p:nvPr/>
        </p:nvCxnSpPr>
        <p:spPr>
          <a:xfrm>
            <a:off x="4872251" y="409433"/>
            <a:ext cx="0" cy="5691116"/>
          </a:xfrm>
          <a:prstGeom prst="line">
            <a:avLst/>
          </a:prstGeom>
        </p:spPr>
        <p:style>
          <a:lnRef idx="3">
            <a:schemeClr val="dk1"/>
          </a:lnRef>
          <a:fillRef idx="0">
            <a:schemeClr val="dk1"/>
          </a:fillRef>
          <a:effectRef idx="2">
            <a:schemeClr val="dk1"/>
          </a:effectRef>
          <a:fontRef idx="minor">
            <a:schemeClr val="tx1"/>
          </a:fontRef>
        </p:style>
      </p:cxnSp>
      <p:sp>
        <p:nvSpPr>
          <p:cNvPr id="4" name="ZoneTexte 3">
            <a:extLst>
              <a:ext uri="{FF2B5EF4-FFF2-40B4-BE49-F238E27FC236}">
                <a16:creationId xmlns:a16="http://schemas.microsoft.com/office/drawing/2014/main" id="{4617AC33-1F45-8A80-4E3B-BEC11FF90C99}"/>
              </a:ext>
            </a:extLst>
          </p:cNvPr>
          <p:cNvSpPr txBox="1"/>
          <p:nvPr/>
        </p:nvSpPr>
        <p:spPr>
          <a:xfrm>
            <a:off x="661918" y="5234338"/>
            <a:ext cx="3903257" cy="369332"/>
          </a:xfrm>
          <a:prstGeom prst="rect">
            <a:avLst/>
          </a:prstGeom>
          <a:noFill/>
        </p:spPr>
        <p:txBody>
          <a:bodyPr wrap="square" rtlCol="0">
            <a:spAutoFit/>
          </a:bodyPr>
          <a:lstStyle/>
          <a:p>
            <a:r>
              <a:rPr lang="fr-FR" b="1" dirty="0"/>
              <a:t>Capteur ultrasonique HC-SR04</a:t>
            </a:r>
            <a:endParaRPr lang="fr-CA" b="1" dirty="0"/>
          </a:p>
        </p:txBody>
      </p:sp>
      <p:sp>
        <p:nvSpPr>
          <p:cNvPr id="5" name="ZoneTexte 4">
            <a:extLst>
              <a:ext uri="{FF2B5EF4-FFF2-40B4-BE49-F238E27FC236}">
                <a16:creationId xmlns:a16="http://schemas.microsoft.com/office/drawing/2014/main" id="{5A504CAE-6302-0D8C-07B9-FC11D09BB5F1}"/>
              </a:ext>
            </a:extLst>
          </p:cNvPr>
          <p:cNvSpPr txBox="1"/>
          <p:nvPr/>
        </p:nvSpPr>
        <p:spPr>
          <a:xfrm>
            <a:off x="5326124" y="1502399"/>
            <a:ext cx="5677453" cy="3455305"/>
          </a:xfrm>
          <a:prstGeom prst="rect">
            <a:avLst/>
          </a:prstGeom>
          <a:noFill/>
        </p:spPr>
        <p:txBody>
          <a:bodyPr wrap="square" rtlCol="0">
            <a:spAutoFit/>
          </a:bodyPr>
          <a:lstStyle/>
          <a:p>
            <a:pPr>
              <a:lnSpc>
                <a:spcPct val="107000"/>
              </a:lnSpc>
              <a:spcAft>
                <a:spcPts val="800"/>
              </a:spcAft>
            </a:pPr>
            <a:r>
              <a:rPr lang="fr-FR" sz="2000" i="0" dirty="0">
                <a:effectLst/>
                <a:ea typeface="Times New Roman" panose="02020603050405020304" pitchFamily="18" charset="0"/>
                <a:cs typeface="Times New Roman" panose="02020603050405020304" pitchFamily="18" charset="0"/>
              </a:rPr>
              <a:t>Les capteurs à ultrasons sont des dispositifs qui utilisent des ondes sonores à haute fréquence pour détecter des objets et mesurer des distances.</a:t>
            </a:r>
            <a:r>
              <a:rPr lang="fr-FR" sz="2000" i="1" dirty="0">
                <a:effectLst/>
                <a:ea typeface="Calibri" panose="020F0502020204030204" pitchFamily="34" charset="0"/>
                <a:cs typeface="Calibri" panose="020F0502020204030204" pitchFamily="34" charset="0"/>
              </a:rPr>
              <a:t> </a:t>
            </a:r>
            <a:r>
              <a:rPr lang="fr-FR" sz="2000" i="0" dirty="0">
                <a:effectLst/>
                <a:ea typeface="Times New Roman" panose="02020603050405020304" pitchFamily="18" charset="0"/>
                <a:cs typeface="Times New Roman" panose="02020603050405020304" pitchFamily="18" charset="0"/>
              </a:rPr>
              <a:t>le HC-SR04 a généralement les broches suivantes :</a:t>
            </a:r>
            <a:endParaRPr lang="fr-CA" sz="2000" dirty="0">
              <a:effectLst/>
              <a:ea typeface="Calibri" panose="020F0502020204030204" pitchFamily="34" charset="0"/>
              <a:cs typeface="Times New Roman" panose="02020603050405020304" pitchFamily="18" charset="0"/>
            </a:endParaRPr>
          </a:p>
          <a:p>
            <a:pPr>
              <a:lnSpc>
                <a:spcPct val="107000"/>
              </a:lnSpc>
              <a:spcAft>
                <a:spcPts val="800"/>
              </a:spcAft>
            </a:pPr>
            <a:r>
              <a:rPr lang="fr-FR" sz="2000" b="1" i="0" dirty="0">
                <a:effectLst/>
                <a:ea typeface="Times New Roman" panose="02020603050405020304" pitchFamily="18" charset="0"/>
                <a:cs typeface="Times New Roman" panose="02020603050405020304" pitchFamily="18" charset="0"/>
              </a:rPr>
              <a:t>VCC :</a:t>
            </a:r>
            <a:r>
              <a:rPr lang="fr-FR" sz="2000" i="0" dirty="0">
                <a:effectLst/>
                <a:ea typeface="Times New Roman" panose="02020603050405020304" pitchFamily="18" charset="0"/>
                <a:cs typeface="Times New Roman" panose="02020603050405020304" pitchFamily="18" charset="0"/>
              </a:rPr>
              <a:t> Alimentation du capteur (généralement 5V).</a:t>
            </a:r>
            <a:endParaRPr lang="fr-CA" sz="2000" dirty="0">
              <a:effectLst/>
              <a:ea typeface="Calibri" panose="020F0502020204030204" pitchFamily="34" charset="0"/>
              <a:cs typeface="Times New Roman" panose="02020603050405020304" pitchFamily="18" charset="0"/>
            </a:endParaRPr>
          </a:p>
          <a:p>
            <a:pPr>
              <a:lnSpc>
                <a:spcPct val="107000"/>
              </a:lnSpc>
              <a:spcAft>
                <a:spcPts val="800"/>
              </a:spcAft>
            </a:pPr>
            <a:r>
              <a:rPr lang="fr-FR" sz="2000" b="1" i="0" dirty="0" err="1">
                <a:effectLst/>
                <a:ea typeface="Times New Roman" panose="02020603050405020304" pitchFamily="18" charset="0"/>
                <a:cs typeface="Times New Roman" panose="02020603050405020304" pitchFamily="18" charset="0"/>
              </a:rPr>
              <a:t>Trig</a:t>
            </a:r>
            <a:r>
              <a:rPr lang="fr-FR" sz="2000" b="1" i="0" dirty="0">
                <a:effectLst/>
                <a:ea typeface="Times New Roman" panose="02020603050405020304" pitchFamily="18" charset="0"/>
                <a:cs typeface="Times New Roman" panose="02020603050405020304" pitchFamily="18" charset="0"/>
              </a:rPr>
              <a:t> (Trigger) :</a:t>
            </a:r>
            <a:r>
              <a:rPr lang="fr-FR" sz="2000" i="0" dirty="0">
                <a:effectLst/>
                <a:ea typeface="Times New Roman" panose="02020603050405020304" pitchFamily="18" charset="0"/>
                <a:cs typeface="Times New Roman" panose="02020603050405020304" pitchFamily="18" charset="0"/>
              </a:rPr>
              <a:t> Envoie une impulsion ultrasonique.</a:t>
            </a:r>
            <a:endParaRPr lang="fr-CA" sz="2000" dirty="0">
              <a:effectLst/>
              <a:ea typeface="Calibri" panose="020F0502020204030204" pitchFamily="34" charset="0"/>
              <a:cs typeface="Times New Roman" panose="02020603050405020304" pitchFamily="18" charset="0"/>
            </a:endParaRPr>
          </a:p>
          <a:p>
            <a:pPr>
              <a:lnSpc>
                <a:spcPct val="107000"/>
              </a:lnSpc>
              <a:spcAft>
                <a:spcPts val="800"/>
              </a:spcAft>
            </a:pPr>
            <a:r>
              <a:rPr lang="fr-FR" sz="2000" b="1" i="0" dirty="0">
                <a:effectLst/>
                <a:ea typeface="Times New Roman" panose="02020603050405020304" pitchFamily="18" charset="0"/>
                <a:cs typeface="Times New Roman" panose="02020603050405020304" pitchFamily="18" charset="0"/>
              </a:rPr>
              <a:t>Echo :</a:t>
            </a:r>
            <a:r>
              <a:rPr lang="fr-FR" sz="2000" i="0" dirty="0">
                <a:effectLst/>
                <a:ea typeface="Times New Roman" panose="02020603050405020304" pitchFamily="18" charset="0"/>
                <a:cs typeface="Times New Roman" panose="02020603050405020304" pitchFamily="18" charset="0"/>
              </a:rPr>
              <a:t> Reçoit l'impulsion ultrasonique réfléchie.</a:t>
            </a:r>
            <a:endParaRPr lang="fr-CA" sz="2000" dirty="0">
              <a:effectLst/>
              <a:ea typeface="Calibri" panose="020F0502020204030204" pitchFamily="34" charset="0"/>
              <a:cs typeface="Times New Roman" panose="02020603050405020304" pitchFamily="18" charset="0"/>
            </a:endParaRPr>
          </a:p>
          <a:p>
            <a:pPr>
              <a:lnSpc>
                <a:spcPct val="107000"/>
              </a:lnSpc>
              <a:spcAft>
                <a:spcPts val="800"/>
              </a:spcAft>
            </a:pPr>
            <a:r>
              <a:rPr lang="fr-FR" sz="2000" b="1" i="0" dirty="0">
                <a:effectLst/>
                <a:ea typeface="Times New Roman" panose="02020603050405020304" pitchFamily="18" charset="0"/>
                <a:cs typeface="Times New Roman" panose="02020603050405020304" pitchFamily="18" charset="0"/>
              </a:rPr>
              <a:t>GND :</a:t>
            </a:r>
            <a:r>
              <a:rPr lang="fr-FR" sz="2000" i="0" dirty="0">
                <a:effectLst/>
                <a:ea typeface="Times New Roman" panose="02020603050405020304" pitchFamily="18" charset="0"/>
                <a:cs typeface="Times New Roman" panose="02020603050405020304" pitchFamily="18" charset="0"/>
              </a:rPr>
              <a:t> Masse du capteur.</a:t>
            </a:r>
            <a:endParaRPr lang="fr-CA" sz="2000" dirty="0">
              <a:effectLst/>
              <a:ea typeface="Calibri" panose="020F0502020204030204" pitchFamily="34" charset="0"/>
              <a:cs typeface="Times New Roman" panose="02020603050405020304" pitchFamily="18" charset="0"/>
            </a:endParaRPr>
          </a:p>
        </p:txBody>
      </p:sp>
      <p:pic>
        <p:nvPicPr>
          <p:cNvPr id="7" name="Image 6">
            <a:extLst>
              <a:ext uri="{FF2B5EF4-FFF2-40B4-BE49-F238E27FC236}">
                <a16:creationId xmlns:a16="http://schemas.microsoft.com/office/drawing/2014/main" id="{6943D926-6018-7D43-EE86-90AAB9E0B76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0" y="2528930"/>
            <a:ext cx="4817917" cy="1756468"/>
          </a:xfrm>
          <a:prstGeom prst="rect">
            <a:avLst/>
          </a:prstGeom>
        </p:spPr>
      </p:pic>
    </p:spTree>
    <p:extLst>
      <p:ext uri="{BB962C8B-B14F-4D97-AF65-F5344CB8AC3E}">
        <p14:creationId xmlns:p14="http://schemas.microsoft.com/office/powerpoint/2010/main" val="696973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diagramme, texte, Plan, capture d’écran&#10;&#10;Description générée automatiquement">
            <a:extLst>
              <a:ext uri="{FF2B5EF4-FFF2-40B4-BE49-F238E27FC236}">
                <a16:creationId xmlns:a16="http://schemas.microsoft.com/office/drawing/2014/main" id="{A760C844-FECD-E0A4-0D5A-BAD7818B2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514" y="133029"/>
            <a:ext cx="10440460" cy="6591941"/>
          </a:xfrm>
          <a:prstGeom prst="rect">
            <a:avLst/>
          </a:prstGeom>
        </p:spPr>
      </p:pic>
      <p:sp>
        <p:nvSpPr>
          <p:cNvPr id="4" name="ZoneTexte 3">
            <a:extLst>
              <a:ext uri="{FF2B5EF4-FFF2-40B4-BE49-F238E27FC236}">
                <a16:creationId xmlns:a16="http://schemas.microsoft.com/office/drawing/2014/main" id="{F2036049-42F3-6561-1B31-B0580717B6DB}"/>
              </a:ext>
            </a:extLst>
          </p:cNvPr>
          <p:cNvSpPr txBox="1"/>
          <p:nvPr/>
        </p:nvSpPr>
        <p:spPr>
          <a:xfrm>
            <a:off x="7831394" y="501445"/>
            <a:ext cx="3775587" cy="584775"/>
          </a:xfrm>
          <a:prstGeom prst="rect">
            <a:avLst/>
          </a:prstGeom>
          <a:noFill/>
        </p:spPr>
        <p:txBody>
          <a:bodyPr wrap="square" rtlCol="0">
            <a:spAutoFit/>
          </a:bodyPr>
          <a:lstStyle/>
          <a:p>
            <a:r>
              <a:rPr lang="fr-FR" sz="3200" b="1" dirty="0">
                <a:latin typeface="+mj-lt"/>
              </a:rPr>
              <a:t>Circuit de montage</a:t>
            </a:r>
            <a:endParaRPr lang="fr-CA" sz="3200" b="1" dirty="0">
              <a:latin typeface="+mj-lt"/>
            </a:endParaRPr>
          </a:p>
        </p:txBody>
      </p:sp>
    </p:spTree>
    <p:extLst>
      <p:ext uri="{BB962C8B-B14F-4D97-AF65-F5344CB8AC3E}">
        <p14:creationId xmlns:p14="http://schemas.microsoft.com/office/powerpoint/2010/main" val="4067654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meubles, ordinateur, table, bureau&#10;&#10;Description générée automatiquement">
            <a:extLst>
              <a:ext uri="{FF2B5EF4-FFF2-40B4-BE49-F238E27FC236}">
                <a16:creationId xmlns:a16="http://schemas.microsoft.com/office/drawing/2014/main" id="{44CA48A7-9923-F3A6-405B-95C68A12FF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2651"/>
            <a:ext cx="6096000" cy="4572000"/>
          </a:xfrm>
          <a:prstGeom prst="rect">
            <a:avLst/>
          </a:prstGeom>
        </p:spPr>
      </p:pic>
      <p:sp>
        <p:nvSpPr>
          <p:cNvPr id="4" name="ZoneTexte 3">
            <a:extLst>
              <a:ext uri="{FF2B5EF4-FFF2-40B4-BE49-F238E27FC236}">
                <a16:creationId xmlns:a16="http://schemas.microsoft.com/office/drawing/2014/main" id="{317B32C9-E0AC-52C2-9762-6A16F928F3E7}"/>
              </a:ext>
            </a:extLst>
          </p:cNvPr>
          <p:cNvSpPr txBox="1"/>
          <p:nvPr/>
        </p:nvSpPr>
        <p:spPr>
          <a:xfrm>
            <a:off x="6341807" y="322251"/>
            <a:ext cx="3997235" cy="584775"/>
          </a:xfrm>
          <a:prstGeom prst="rect">
            <a:avLst/>
          </a:prstGeom>
          <a:noFill/>
        </p:spPr>
        <p:txBody>
          <a:bodyPr wrap="square" rtlCol="0">
            <a:spAutoFit/>
          </a:bodyPr>
          <a:lstStyle/>
          <a:p>
            <a:r>
              <a:rPr lang="fr-FR" sz="3200" b="1" dirty="0"/>
              <a:t>PROGRAMMATION </a:t>
            </a:r>
            <a:r>
              <a:rPr lang="fr-FR" dirty="0"/>
              <a:t> </a:t>
            </a:r>
            <a:endParaRPr lang="fr-CA" dirty="0"/>
          </a:p>
        </p:txBody>
      </p:sp>
      <p:pic>
        <p:nvPicPr>
          <p:cNvPr id="6" name="Image 5" descr="Une image contenant texte, diagramme, ligne, Parallèle&#10;&#10;Description générée automatiquement">
            <a:extLst>
              <a:ext uri="{FF2B5EF4-FFF2-40B4-BE49-F238E27FC236}">
                <a16:creationId xmlns:a16="http://schemas.microsoft.com/office/drawing/2014/main" id="{F6425C50-224A-1D9F-E8BA-7C1A5A8F0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68638" y="907026"/>
            <a:ext cx="5995939" cy="5336336"/>
          </a:xfrm>
          <a:prstGeom prst="rect">
            <a:avLst/>
          </a:prstGeom>
        </p:spPr>
      </p:pic>
      <p:cxnSp>
        <p:nvCxnSpPr>
          <p:cNvPr id="8" name="Connecteur droit 7">
            <a:extLst>
              <a:ext uri="{FF2B5EF4-FFF2-40B4-BE49-F238E27FC236}">
                <a16:creationId xmlns:a16="http://schemas.microsoft.com/office/drawing/2014/main" id="{8D1BEE74-9F1F-4866-555E-8D614F581940}"/>
              </a:ext>
            </a:extLst>
          </p:cNvPr>
          <p:cNvCxnSpPr/>
          <p:nvPr/>
        </p:nvCxnSpPr>
        <p:spPr>
          <a:xfrm>
            <a:off x="5468638" y="442913"/>
            <a:ext cx="0" cy="5643562"/>
          </a:xfrm>
          <a:prstGeom prst="line">
            <a:avLst/>
          </a:prstGeom>
        </p:spPr>
        <p:style>
          <a:lnRef idx="3">
            <a:schemeClr val="dk1"/>
          </a:lnRef>
          <a:fillRef idx="0">
            <a:schemeClr val="dk1"/>
          </a:fillRef>
          <a:effectRef idx="2">
            <a:schemeClr val="dk1"/>
          </a:effectRef>
          <a:fontRef idx="minor">
            <a:schemeClr val="tx1"/>
          </a:fontRef>
        </p:style>
      </p:cxnSp>
      <p:sp>
        <p:nvSpPr>
          <p:cNvPr id="9" name="ZoneTexte 8">
            <a:extLst>
              <a:ext uri="{FF2B5EF4-FFF2-40B4-BE49-F238E27FC236}">
                <a16:creationId xmlns:a16="http://schemas.microsoft.com/office/drawing/2014/main" id="{01893CCC-E599-DB43-E954-83BFEB6CCEE7}"/>
              </a:ext>
            </a:extLst>
          </p:cNvPr>
          <p:cNvSpPr txBox="1"/>
          <p:nvPr/>
        </p:nvSpPr>
        <p:spPr>
          <a:xfrm>
            <a:off x="470263" y="5277394"/>
            <a:ext cx="4611188" cy="984885"/>
          </a:xfrm>
          <a:prstGeom prst="rect">
            <a:avLst/>
          </a:prstGeom>
          <a:noFill/>
        </p:spPr>
        <p:txBody>
          <a:bodyPr wrap="square" rtlCol="0">
            <a:spAutoFit/>
          </a:bodyPr>
          <a:lstStyle/>
          <a:p>
            <a:r>
              <a:rPr lang="fr-FR" sz="2000" b="1" dirty="0"/>
              <a:t>Le code a été écrit en C++ en utilisant l'IDE Arduino.</a:t>
            </a:r>
          </a:p>
          <a:p>
            <a:endParaRPr lang="fr-CA" dirty="0"/>
          </a:p>
        </p:txBody>
      </p:sp>
    </p:spTree>
    <p:extLst>
      <p:ext uri="{BB962C8B-B14F-4D97-AF65-F5344CB8AC3E}">
        <p14:creationId xmlns:p14="http://schemas.microsoft.com/office/powerpoint/2010/main" val="165816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art&#10;&#10;Description générée automatiquement avec une confiance faible">
            <a:extLst>
              <a:ext uri="{FF2B5EF4-FFF2-40B4-BE49-F238E27FC236}">
                <a16:creationId xmlns:a16="http://schemas.microsoft.com/office/drawing/2014/main" id="{654D3164-3B5B-BDD6-A326-B866738203FB}"/>
              </a:ext>
            </a:extLst>
          </p:cNvPr>
          <p:cNvPicPr>
            <a:picLocks noChangeAspect="1"/>
          </p:cNvPicPr>
          <p:nvPr/>
        </p:nvPicPr>
        <p:blipFill rotWithShape="1">
          <a:blip r:embed="rId2">
            <a:extLst>
              <a:ext uri="{28A0092B-C50C-407E-A947-70E740481C1C}">
                <a14:useLocalDpi xmlns:a14="http://schemas.microsoft.com/office/drawing/2010/main" val="0"/>
              </a:ext>
            </a:extLst>
          </a:blip>
          <a:srcRect l="5338" r="4963"/>
          <a:stretch/>
        </p:blipFill>
        <p:spPr>
          <a:xfrm>
            <a:off x="271464" y="0"/>
            <a:ext cx="5824531" cy="4058417"/>
          </a:xfrm>
          <a:prstGeom prst="rect">
            <a:avLst/>
          </a:prstGeom>
        </p:spPr>
      </p:pic>
      <p:cxnSp>
        <p:nvCxnSpPr>
          <p:cNvPr id="5" name="Connecteur droit 4">
            <a:extLst>
              <a:ext uri="{FF2B5EF4-FFF2-40B4-BE49-F238E27FC236}">
                <a16:creationId xmlns:a16="http://schemas.microsoft.com/office/drawing/2014/main" id="{A0C4B4DC-4494-D676-0D77-050D894C9EF7}"/>
              </a:ext>
            </a:extLst>
          </p:cNvPr>
          <p:cNvCxnSpPr/>
          <p:nvPr/>
        </p:nvCxnSpPr>
        <p:spPr>
          <a:xfrm>
            <a:off x="6319566" y="286975"/>
            <a:ext cx="0" cy="5815012"/>
          </a:xfrm>
          <a:prstGeom prst="line">
            <a:avLst/>
          </a:prstGeom>
        </p:spPr>
        <p:style>
          <a:lnRef idx="3">
            <a:schemeClr val="dk1"/>
          </a:lnRef>
          <a:fillRef idx="0">
            <a:schemeClr val="dk1"/>
          </a:fillRef>
          <a:effectRef idx="2">
            <a:schemeClr val="dk1"/>
          </a:effectRef>
          <a:fontRef idx="minor">
            <a:schemeClr val="tx1"/>
          </a:fontRef>
        </p:style>
      </p:cxnSp>
      <p:pic>
        <p:nvPicPr>
          <p:cNvPr id="7" name="Image 6" descr="Une image contenant dessin humoristique&#10;&#10;Description générée automatiquement">
            <a:extLst>
              <a:ext uri="{FF2B5EF4-FFF2-40B4-BE49-F238E27FC236}">
                <a16:creationId xmlns:a16="http://schemas.microsoft.com/office/drawing/2014/main" id="{A9F4B3EE-0961-BBAD-7598-452967B3EB96}"/>
              </a:ext>
            </a:extLst>
          </p:cNvPr>
          <p:cNvPicPr>
            <a:picLocks noChangeAspect="1"/>
          </p:cNvPicPr>
          <p:nvPr/>
        </p:nvPicPr>
        <p:blipFill rotWithShape="1">
          <a:blip r:embed="rId3">
            <a:extLst>
              <a:ext uri="{28A0092B-C50C-407E-A947-70E740481C1C}">
                <a14:useLocalDpi xmlns:a14="http://schemas.microsoft.com/office/drawing/2010/main" val="0"/>
              </a:ext>
            </a:extLst>
          </a:blip>
          <a:srcRect l="13101" t="4375" r="12519" b="25517"/>
          <a:stretch/>
        </p:blipFill>
        <p:spPr>
          <a:xfrm>
            <a:off x="6747847" y="3194481"/>
            <a:ext cx="4820055" cy="2568410"/>
          </a:xfrm>
          <a:prstGeom prst="rect">
            <a:avLst/>
          </a:prstGeom>
        </p:spPr>
      </p:pic>
      <p:sp>
        <p:nvSpPr>
          <p:cNvPr id="8" name="ZoneTexte 7">
            <a:extLst>
              <a:ext uri="{FF2B5EF4-FFF2-40B4-BE49-F238E27FC236}">
                <a16:creationId xmlns:a16="http://schemas.microsoft.com/office/drawing/2014/main" id="{DABD8B0A-E602-F9D5-D454-17CD07992D58}"/>
              </a:ext>
            </a:extLst>
          </p:cNvPr>
          <p:cNvSpPr txBox="1"/>
          <p:nvPr/>
        </p:nvSpPr>
        <p:spPr>
          <a:xfrm>
            <a:off x="271464" y="4058417"/>
            <a:ext cx="5600970" cy="1938992"/>
          </a:xfrm>
          <a:prstGeom prst="rect">
            <a:avLst/>
          </a:prstGeom>
          <a:noFill/>
        </p:spPr>
        <p:txBody>
          <a:bodyPr wrap="square" rtlCol="0">
            <a:spAutoFit/>
          </a:bodyPr>
          <a:lstStyle/>
          <a:p>
            <a:pPr algn="just"/>
            <a:r>
              <a:rPr lang="fr-FR" sz="2000" b="1" dirty="0"/>
              <a:t>Nous avons rencontré des difficultés à l'étape du codage. On n’arrivait pas à faire fonctionner les moteurs en même temps que le capteur ultrasonique et le servomoteur (les capteurs et les servomoteurs fonctionnaient, mais le robot ne se déplaçait pas).</a:t>
            </a:r>
            <a:endParaRPr lang="fr-CA" sz="2000" b="1" dirty="0"/>
          </a:p>
        </p:txBody>
      </p:sp>
      <p:sp>
        <p:nvSpPr>
          <p:cNvPr id="9" name="ZoneTexte 8">
            <a:extLst>
              <a:ext uri="{FF2B5EF4-FFF2-40B4-BE49-F238E27FC236}">
                <a16:creationId xmlns:a16="http://schemas.microsoft.com/office/drawing/2014/main" id="{51AEEA93-6E7A-C347-0054-B29DC2C7DDFF}"/>
              </a:ext>
            </a:extLst>
          </p:cNvPr>
          <p:cNvSpPr txBox="1"/>
          <p:nvPr/>
        </p:nvSpPr>
        <p:spPr>
          <a:xfrm>
            <a:off x="6591024" y="1521376"/>
            <a:ext cx="5133703" cy="1015663"/>
          </a:xfrm>
          <a:prstGeom prst="rect">
            <a:avLst/>
          </a:prstGeom>
          <a:noFill/>
        </p:spPr>
        <p:txBody>
          <a:bodyPr wrap="square" rtlCol="0">
            <a:spAutoFit/>
          </a:bodyPr>
          <a:lstStyle/>
          <a:p>
            <a:r>
              <a:rPr lang="fr-FR" sz="2000" b="1" dirty="0"/>
              <a:t>Nous avons codé le pont H d'abord, puis nous avons associé notre code des capteurs, qui fonctionnait, à celui-ci.</a:t>
            </a:r>
            <a:endParaRPr lang="fr-CA" sz="2000" b="1" dirty="0"/>
          </a:p>
        </p:txBody>
      </p:sp>
      <p:sp>
        <p:nvSpPr>
          <p:cNvPr id="10" name="ZoneTexte 9">
            <a:extLst>
              <a:ext uri="{FF2B5EF4-FFF2-40B4-BE49-F238E27FC236}">
                <a16:creationId xmlns:a16="http://schemas.microsoft.com/office/drawing/2014/main" id="{43F58256-70E8-C634-C764-950667E09694}"/>
              </a:ext>
            </a:extLst>
          </p:cNvPr>
          <p:cNvSpPr txBox="1"/>
          <p:nvPr/>
        </p:nvSpPr>
        <p:spPr>
          <a:xfrm>
            <a:off x="140835" y="102309"/>
            <a:ext cx="3281633" cy="369332"/>
          </a:xfrm>
          <a:prstGeom prst="rect">
            <a:avLst/>
          </a:prstGeom>
          <a:noFill/>
        </p:spPr>
        <p:txBody>
          <a:bodyPr wrap="square" rtlCol="0">
            <a:spAutoFit/>
          </a:bodyPr>
          <a:lstStyle/>
          <a:p>
            <a:r>
              <a:rPr lang="fr-FR" b="1" dirty="0"/>
              <a:t>Nos difficultés rencontrées </a:t>
            </a:r>
            <a:endParaRPr lang="fr-CA" b="1" dirty="0"/>
          </a:p>
        </p:txBody>
      </p:sp>
    </p:spTree>
    <p:extLst>
      <p:ext uri="{BB962C8B-B14F-4D97-AF65-F5344CB8AC3E}">
        <p14:creationId xmlns:p14="http://schemas.microsoft.com/office/powerpoint/2010/main" val="849793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jouet&#10;&#10;Description générée automatiquement">
            <a:extLst>
              <a:ext uri="{FF2B5EF4-FFF2-40B4-BE49-F238E27FC236}">
                <a16:creationId xmlns:a16="http://schemas.microsoft.com/office/drawing/2014/main" id="{DCB3C5FC-6982-4A63-6267-AE5996198F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300" y="132111"/>
            <a:ext cx="6097389" cy="6097389"/>
          </a:xfrm>
          <a:prstGeom prst="rect">
            <a:avLst/>
          </a:prstGeom>
        </p:spPr>
      </p:pic>
      <p:sp>
        <p:nvSpPr>
          <p:cNvPr id="4" name="ZoneTexte 3">
            <a:extLst>
              <a:ext uri="{FF2B5EF4-FFF2-40B4-BE49-F238E27FC236}">
                <a16:creationId xmlns:a16="http://schemas.microsoft.com/office/drawing/2014/main" id="{436B27C8-55D2-AD37-E6E0-A18E51A38476}"/>
              </a:ext>
            </a:extLst>
          </p:cNvPr>
          <p:cNvSpPr txBox="1"/>
          <p:nvPr/>
        </p:nvSpPr>
        <p:spPr>
          <a:xfrm>
            <a:off x="6515100" y="2596030"/>
            <a:ext cx="4914900" cy="584775"/>
          </a:xfrm>
          <a:prstGeom prst="rect">
            <a:avLst/>
          </a:prstGeom>
          <a:noFill/>
        </p:spPr>
        <p:txBody>
          <a:bodyPr wrap="square" rtlCol="0">
            <a:spAutoFit/>
          </a:bodyPr>
          <a:lstStyle/>
          <a:p>
            <a:r>
              <a:rPr lang="fr-FR" sz="3200" b="1" dirty="0">
                <a:latin typeface="+mj-lt"/>
              </a:rPr>
              <a:t>ANALYSE DES RESULTATS</a:t>
            </a:r>
            <a:endParaRPr lang="fr-CA" sz="3200" b="1" dirty="0">
              <a:latin typeface="+mj-lt"/>
            </a:endParaRPr>
          </a:p>
        </p:txBody>
      </p:sp>
    </p:spTree>
    <p:extLst>
      <p:ext uri="{BB962C8B-B14F-4D97-AF65-F5344CB8AC3E}">
        <p14:creationId xmlns:p14="http://schemas.microsoft.com/office/powerpoint/2010/main" val="3586792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WhatsApp Vidéo 2024-04-22 à 13.15.19_c30fe6bf">
            <a:hlinkClick r:id="" action="ppaction://media"/>
            <a:extLst>
              <a:ext uri="{FF2B5EF4-FFF2-40B4-BE49-F238E27FC236}">
                <a16:creationId xmlns:a16="http://schemas.microsoft.com/office/drawing/2014/main" id="{3E99AFA0-7677-21E7-7B7F-ABB0A2FEE7B2}"/>
              </a:ext>
            </a:extLst>
          </p:cNvPr>
          <p:cNvPicPr>
            <a:picLocks noChangeAspect="1"/>
          </p:cNvPicPr>
          <p:nvPr>
            <a:videoFile r:link="rId1"/>
            <p:extLst>
              <p:ext uri="{DAA4B4D4-6D71-4841-9C94-3DE7FCFB9230}">
                <p14:media xmlns:p14="http://schemas.microsoft.com/office/powerpoint/2010/main" r:embed="rId2">
                  <p14:trim st="17115" end="2245.3287"/>
                </p14:media>
              </p:ext>
            </p:extLst>
          </p:nvPr>
        </p:nvPicPr>
        <p:blipFill>
          <a:blip r:embed="rId4"/>
          <a:stretch>
            <a:fillRect/>
          </a:stretch>
        </p:blipFill>
        <p:spPr>
          <a:xfrm>
            <a:off x="5205514" y="164691"/>
            <a:ext cx="6461125" cy="3657600"/>
          </a:xfrm>
          <a:prstGeom prst="rect">
            <a:avLst/>
          </a:prstGeom>
        </p:spPr>
      </p:pic>
      <p:sp>
        <p:nvSpPr>
          <p:cNvPr id="4" name="ZoneTexte 3">
            <a:extLst>
              <a:ext uri="{FF2B5EF4-FFF2-40B4-BE49-F238E27FC236}">
                <a16:creationId xmlns:a16="http://schemas.microsoft.com/office/drawing/2014/main" id="{94893658-5DE8-6E96-0229-A4E02EC491EF}"/>
              </a:ext>
            </a:extLst>
          </p:cNvPr>
          <p:cNvSpPr txBox="1"/>
          <p:nvPr/>
        </p:nvSpPr>
        <p:spPr>
          <a:xfrm>
            <a:off x="5205514" y="4562168"/>
            <a:ext cx="6553866" cy="1323439"/>
          </a:xfrm>
          <a:prstGeom prst="rect">
            <a:avLst/>
          </a:prstGeom>
          <a:noFill/>
        </p:spPr>
        <p:txBody>
          <a:bodyPr wrap="square" rtlCol="0">
            <a:spAutoFit/>
          </a:bodyPr>
          <a:lstStyle/>
          <a:p>
            <a:r>
              <a:rPr lang="fr-FR" sz="2000" b="1" dirty="0"/>
              <a:t>Les résultats ont montré que le robot était capable de détecter et d'éviter les obstacles de manière efficace a une distance de 15cm.</a:t>
            </a:r>
          </a:p>
          <a:p>
            <a:r>
              <a:rPr lang="fr-FR" sz="2000" b="1" dirty="0"/>
              <a:t>Comme démontre la vidéo ci-dessus.</a:t>
            </a:r>
            <a:endParaRPr lang="fr-CA" sz="2000" b="1" dirty="0"/>
          </a:p>
        </p:txBody>
      </p:sp>
      <p:cxnSp>
        <p:nvCxnSpPr>
          <p:cNvPr id="6" name="Connecteur droit 5">
            <a:extLst>
              <a:ext uri="{FF2B5EF4-FFF2-40B4-BE49-F238E27FC236}">
                <a16:creationId xmlns:a16="http://schemas.microsoft.com/office/drawing/2014/main" id="{98A167F8-60E7-FAA2-56C7-8CF536E5BC47}"/>
              </a:ext>
            </a:extLst>
          </p:cNvPr>
          <p:cNvCxnSpPr/>
          <p:nvPr/>
        </p:nvCxnSpPr>
        <p:spPr>
          <a:xfrm>
            <a:off x="4296697" y="314632"/>
            <a:ext cx="0" cy="5545394"/>
          </a:xfrm>
          <a:prstGeom prst="line">
            <a:avLst/>
          </a:prstGeom>
        </p:spPr>
        <p:style>
          <a:lnRef idx="3">
            <a:schemeClr val="dk1"/>
          </a:lnRef>
          <a:fillRef idx="0">
            <a:schemeClr val="dk1"/>
          </a:fillRef>
          <a:effectRef idx="2">
            <a:schemeClr val="dk1"/>
          </a:effectRef>
          <a:fontRef idx="minor">
            <a:schemeClr val="tx1"/>
          </a:fontRef>
        </p:style>
      </p:cxnSp>
      <p:pic>
        <p:nvPicPr>
          <p:cNvPr id="8" name="Image 7" descr="Une image contenant jouet, conception&#10;&#10;Description générée automatiquement avec une confiance faible">
            <a:extLst>
              <a:ext uri="{FF2B5EF4-FFF2-40B4-BE49-F238E27FC236}">
                <a16:creationId xmlns:a16="http://schemas.microsoft.com/office/drawing/2014/main" id="{A5A9E789-7A18-07CE-683E-ADB22DEF730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800" y="1227463"/>
            <a:ext cx="3719732" cy="3719732"/>
          </a:xfrm>
          <a:prstGeom prst="rect">
            <a:avLst/>
          </a:prstGeom>
        </p:spPr>
      </p:pic>
    </p:spTree>
    <p:extLst>
      <p:ext uri="{BB962C8B-B14F-4D97-AF65-F5344CB8AC3E}">
        <p14:creationId xmlns:p14="http://schemas.microsoft.com/office/powerpoint/2010/main" val="3018236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5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jouet&#10;&#10;Description générée automatiquement">
            <a:extLst>
              <a:ext uri="{FF2B5EF4-FFF2-40B4-BE49-F238E27FC236}">
                <a16:creationId xmlns:a16="http://schemas.microsoft.com/office/drawing/2014/main" id="{E7D4F55D-1FEE-6FFF-D4CA-9878EF80E7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14387"/>
            <a:ext cx="7348343" cy="5543550"/>
          </a:xfrm>
          <a:prstGeom prst="rect">
            <a:avLst/>
          </a:prstGeom>
        </p:spPr>
      </p:pic>
      <p:sp>
        <p:nvSpPr>
          <p:cNvPr id="4" name="ZoneTexte 3">
            <a:extLst>
              <a:ext uri="{FF2B5EF4-FFF2-40B4-BE49-F238E27FC236}">
                <a16:creationId xmlns:a16="http://schemas.microsoft.com/office/drawing/2014/main" id="{2AFD86B7-F030-67AF-82AF-C75FA8B5C70B}"/>
              </a:ext>
            </a:extLst>
          </p:cNvPr>
          <p:cNvSpPr txBox="1"/>
          <p:nvPr/>
        </p:nvSpPr>
        <p:spPr>
          <a:xfrm>
            <a:off x="6543675" y="1643063"/>
            <a:ext cx="5014913" cy="3447098"/>
          </a:xfrm>
          <a:prstGeom prst="rect">
            <a:avLst/>
          </a:prstGeom>
          <a:noFill/>
        </p:spPr>
        <p:txBody>
          <a:bodyPr wrap="square" rtlCol="0">
            <a:spAutoFit/>
          </a:bodyPr>
          <a:lstStyle/>
          <a:p>
            <a:endParaRPr lang="fr-FR" dirty="0"/>
          </a:p>
          <a:p>
            <a:r>
              <a:rPr lang="fr-FR" sz="2000" b="1" dirty="0"/>
              <a:t>Dans le futur, nous pourrions améliorer le robot en ajoutant plus de capteurs pour une détection d'obstacles plus précise.</a:t>
            </a:r>
          </a:p>
          <a:p>
            <a:endParaRPr lang="fr-FR" sz="2000" b="1" dirty="0"/>
          </a:p>
          <a:p>
            <a:endParaRPr lang="fr-FR" sz="2000" b="1" dirty="0"/>
          </a:p>
          <a:p>
            <a:r>
              <a:rPr lang="fr-FR" sz="2000" b="1" dirty="0"/>
              <a:t>Nous recommandons d'explorer l'utilisation de différents types de capteurs et de technologies pour améliorer encore la performance du robot.</a:t>
            </a:r>
            <a:endParaRPr lang="fr-CA" sz="2000" b="1" dirty="0"/>
          </a:p>
        </p:txBody>
      </p:sp>
      <p:cxnSp>
        <p:nvCxnSpPr>
          <p:cNvPr id="6" name="Connecteur droit 5">
            <a:extLst>
              <a:ext uri="{FF2B5EF4-FFF2-40B4-BE49-F238E27FC236}">
                <a16:creationId xmlns:a16="http://schemas.microsoft.com/office/drawing/2014/main" id="{8CC7708D-D897-2F4D-8FCA-4C17FA7DB3F4}"/>
              </a:ext>
            </a:extLst>
          </p:cNvPr>
          <p:cNvCxnSpPr/>
          <p:nvPr/>
        </p:nvCxnSpPr>
        <p:spPr>
          <a:xfrm>
            <a:off x="6322423" y="679269"/>
            <a:ext cx="0" cy="5364344"/>
          </a:xfrm>
          <a:prstGeom prst="line">
            <a:avLst/>
          </a:prstGeom>
        </p:spPr>
        <p:style>
          <a:lnRef idx="3">
            <a:schemeClr val="accent6"/>
          </a:lnRef>
          <a:fillRef idx="0">
            <a:schemeClr val="accent6"/>
          </a:fillRef>
          <a:effectRef idx="2">
            <a:schemeClr val="accent6"/>
          </a:effectRef>
          <a:fontRef idx="minor">
            <a:schemeClr val="tx1"/>
          </a:fontRef>
        </p:style>
      </p:cxnSp>
      <p:sp>
        <p:nvSpPr>
          <p:cNvPr id="7" name="ZoneTexte 6">
            <a:extLst>
              <a:ext uri="{FF2B5EF4-FFF2-40B4-BE49-F238E27FC236}">
                <a16:creationId xmlns:a16="http://schemas.microsoft.com/office/drawing/2014/main" id="{7F63EB44-451D-F746-A2EC-8544571E5540}"/>
              </a:ext>
            </a:extLst>
          </p:cNvPr>
          <p:cNvSpPr txBox="1"/>
          <p:nvPr/>
        </p:nvSpPr>
        <p:spPr>
          <a:xfrm>
            <a:off x="274319" y="500063"/>
            <a:ext cx="3853539" cy="369332"/>
          </a:xfrm>
          <a:prstGeom prst="rect">
            <a:avLst/>
          </a:prstGeom>
          <a:noFill/>
        </p:spPr>
        <p:txBody>
          <a:bodyPr wrap="square" rtlCol="0">
            <a:spAutoFit/>
          </a:bodyPr>
          <a:lstStyle/>
          <a:p>
            <a:pPr algn="just"/>
            <a:r>
              <a:rPr lang="fr-FR" b="1" dirty="0"/>
              <a:t>Perspectives et recommandation</a:t>
            </a:r>
            <a:endParaRPr lang="fr-CA" b="1" dirty="0"/>
          </a:p>
        </p:txBody>
      </p:sp>
    </p:spTree>
    <p:extLst>
      <p:ext uri="{BB962C8B-B14F-4D97-AF65-F5344CB8AC3E}">
        <p14:creationId xmlns:p14="http://schemas.microsoft.com/office/powerpoint/2010/main" val="371554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CF619BB-19E1-74EA-1FED-E238D3E5CB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955"/>
            <a:ext cx="5029047" cy="6227680"/>
          </a:xfrm>
          <a:prstGeom prst="rect">
            <a:avLst/>
          </a:prstGeom>
        </p:spPr>
      </p:pic>
      <p:sp>
        <p:nvSpPr>
          <p:cNvPr id="4" name="ZoneTexte 3">
            <a:extLst>
              <a:ext uri="{FF2B5EF4-FFF2-40B4-BE49-F238E27FC236}">
                <a16:creationId xmlns:a16="http://schemas.microsoft.com/office/drawing/2014/main" id="{AC54E69A-30E7-9D22-FAD1-0D1B7E808B9C}"/>
              </a:ext>
            </a:extLst>
          </p:cNvPr>
          <p:cNvSpPr txBox="1"/>
          <p:nvPr/>
        </p:nvSpPr>
        <p:spPr>
          <a:xfrm>
            <a:off x="5964382" y="1387613"/>
            <a:ext cx="4778477" cy="584775"/>
          </a:xfrm>
          <a:prstGeom prst="rect">
            <a:avLst/>
          </a:prstGeom>
          <a:noFill/>
        </p:spPr>
        <p:txBody>
          <a:bodyPr wrap="square" rtlCol="0">
            <a:spAutoFit/>
          </a:bodyPr>
          <a:lstStyle/>
          <a:p>
            <a:r>
              <a:rPr lang="fr-FR" sz="3200" b="1" dirty="0"/>
              <a:t>CONCLUSION</a:t>
            </a:r>
            <a:endParaRPr lang="fr-CA" sz="3200" b="1" dirty="0"/>
          </a:p>
        </p:txBody>
      </p:sp>
      <p:sp>
        <p:nvSpPr>
          <p:cNvPr id="5" name="ZoneTexte 4">
            <a:extLst>
              <a:ext uri="{FF2B5EF4-FFF2-40B4-BE49-F238E27FC236}">
                <a16:creationId xmlns:a16="http://schemas.microsoft.com/office/drawing/2014/main" id="{188F9727-BE4B-A3C0-9A16-9F0E33063CD7}"/>
              </a:ext>
            </a:extLst>
          </p:cNvPr>
          <p:cNvSpPr txBox="1"/>
          <p:nvPr/>
        </p:nvSpPr>
        <p:spPr>
          <a:xfrm>
            <a:off x="3801291" y="2638697"/>
            <a:ext cx="7876903" cy="2246769"/>
          </a:xfrm>
          <a:prstGeom prst="rect">
            <a:avLst/>
          </a:prstGeom>
          <a:noFill/>
        </p:spPr>
        <p:txBody>
          <a:bodyPr wrap="square" rtlCol="0">
            <a:spAutoFit/>
          </a:bodyPr>
          <a:lstStyle/>
          <a:p>
            <a:pPr algn="just"/>
            <a:r>
              <a:rPr lang="fr-FR" sz="2000" b="1" dirty="0"/>
              <a:t>Nous avons réussi à concevoir et à construire un robot </a:t>
            </a:r>
            <a:r>
              <a:rPr lang="fr-FR" sz="2000" b="1" dirty="0" err="1"/>
              <a:t>éviteur</a:t>
            </a:r>
            <a:r>
              <a:rPr lang="fr-FR" sz="2000" b="1" dirty="0"/>
              <a:t> d'obstacles efficace en utilisant une carte Arduino Uno et un capteur ultrasonique.</a:t>
            </a:r>
          </a:p>
          <a:p>
            <a:pPr algn="just"/>
            <a:endParaRPr lang="fr-FR" sz="2000" b="1" dirty="0"/>
          </a:p>
          <a:p>
            <a:pPr algn="just"/>
            <a:r>
              <a:rPr lang="fr-FR" sz="2000" b="1" dirty="0"/>
              <a:t>Ce projet a permis de développer nos compétences en programmation et en électronique, et a également contribué à l'avancement de la technologie des robots autonomes</a:t>
            </a:r>
            <a:endParaRPr lang="fr-CA" sz="2000" b="1" dirty="0"/>
          </a:p>
        </p:txBody>
      </p:sp>
    </p:spTree>
    <p:extLst>
      <p:ext uri="{BB962C8B-B14F-4D97-AF65-F5344CB8AC3E}">
        <p14:creationId xmlns:p14="http://schemas.microsoft.com/office/powerpoint/2010/main" val="250529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 blanc, conception&#10;&#10;Description générée automatiquement">
            <a:extLst>
              <a:ext uri="{FF2B5EF4-FFF2-40B4-BE49-F238E27FC236}">
                <a16:creationId xmlns:a16="http://schemas.microsoft.com/office/drawing/2014/main" id="{C63E0B74-50B8-82B8-18D7-01CD29F049E8}"/>
              </a:ext>
            </a:extLst>
          </p:cNvPr>
          <p:cNvPicPr>
            <a:picLocks noChangeAspect="1"/>
          </p:cNvPicPr>
          <p:nvPr/>
        </p:nvPicPr>
        <p:blipFill rotWithShape="1">
          <a:blip r:embed="rId2">
            <a:extLst>
              <a:ext uri="{28A0092B-C50C-407E-A947-70E740481C1C}">
                <a14:useLocalDpi xmlns:a14="http://schemas.microsoft.com/office/drawing/2010/main" val="0"/>
              </a:ext>
            </a:extLst>
          </a:blip>
          <a:srcRect b="7498"/>
          <a:stretch/>
        </p:blipFill>
        <p:spPr>
          <a:xfrm>
            <a:off x="779428" y="0"/>
            <a:ext cx="5316572" cy="5296230"/>
          </a:xfrm>
          <a:prstGeom prst="rect">
            <a:avLst/>
          </a:prstGeom>
        </p:spPr>
      </p:pic>
      <p:sp>
        <p:nvSpPr>
          <p:cNvPr id="4" name="ZoneTexte 3">
            <a:extLst>
              <a:ext uri="{FF2B5EF4-FFF2-40B4-BE49-F238E27FC236}">
                <a16:creationId xmlns:a16="http://schemas.microsoft.com/office/drawing/2014/main" id="{0A888C8A-D9C1-02E5-E86B-898A23CBD119}"/>
              </a:ext>
            </a:extLst>
          </p:cNvPr>
          <p:cNvSpPr txBox="1"/>
          <p:nvPr/>
        </p:nvSpPr>
        <p:spPr>
          <a:xfrm>
            <a:off x="5368834" y="3200400"/>
            <a:ext cx="6043738" cy="1015663"/>
          </a:xfrm>
          <a:prstGeom prst="rect">
            <a:avLst/>
          </a:prstGeom>
          <a:noFill/>
        </p:spPr>
        <p:txBody>
          <a:bodyPr wrap="square" rtlCol="0">
            <a:spAutoFit/>
          </a:bodyPr>
          <a:lstStyle/>
          <a:p>
            <a:pPr algn="just"/>
            <a:r>
              <a:rPr lang="fr-FR" sz="2000" b="1" dirty="0"/>
              <a:t>Nous tenons à remercier notre professeur et nos camarades de classe pour leur soutien et leurs conseils tout au long de ce projet</a:t>
            </a:r>
            <a:endParaRPr lang="fr-CA" sz="2000" b="1" dirty="0"/>
          </a:p>
        </p:txBody>
      </p:sp>
    </p:spTree>
    <p:extLst>
      <p:ext uri="{BB962C8B-B14F-4D97-AF65-F5344CB8AC3E}">
        <p14:creationId xmlns:p14="http://schemas.microsoft.com/office/powerpoint/2010/main" val="1729540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joint, jouet&#10;&#10;Description générée automatiquement">
            <a:extLst>
              <a:ext uri="{FF2B5EF4-FFF2-40B4-BE49-F238E27FC236}">
                <a16:creationId xmlns:a16="http://schemas.microsoft.com/office/drawing/2014/main" id="{221AC120-C899-8297-613B-1F2DC75DBE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557" y="0"/>
            <a:ext cx="6858000" cy="6858000"/>
          </a:xfrm>
          <a:prstGeom prst="rect">
            <a:avLst/>
          </a:prstGeom>
        </p:spPr>
      </p:pic>
      <p:sp>
        <p:nvSpPr>
          <p:cNvPr id="4" name="ZoneTexte 3">
            <a:extLst>
              <a:ext uri="{FF2B5EF4-FFF2-40B4-BE49-F238E27FC236}">
                <a16:creationId xmlns:a16="http://schemas.microsoft.com/office/drawing/2014/main" id="{3944D33F-DE5D-49F8-FD60-D156139AE273}"/>
              </a:ext>
            </a:extLst>
          </p:cNvPr>
          <p:cNvSpPr txBox="1"/>
          <p:nvPr/>
        </p:nvSpPr>
        <p:spPr>
          <a:xfrm>
            <a:off x="6209732" y="2566219"/>
            <a:ext cx="5559482" cy="1015663"/>
          </a:xfrm>
          <a:prstGeom prst="rect">
            <a:avLst/>
          </a:prstGeom>
          <a:noFill/>
        </p:spPr>
        <p:txBody>
          <a:bodyPr wrap="square" rtlCol="0">
            <a:spAutoFit/>
          </a:bodyPr>
          <a:lstStyle/>
          <a:p>
            <a:pPr algn="just"/>
            <a:r>
              <a:rPr lang="fr-FR" sz="2000" b="1" dirty="0"/>
              <a:t>Nous vous invitons maintenant à poser vos questions. Nous sommes impatients de discuter de notre projet avec vous</a:t>
            </a:r>
            <a:endParaRPr lang="fr-CA" sz="2000" b="1" dirty="0"/>
          </a:p>
        </p:txBody>
      </p:sp>
    </p:spTree>
    <p:extLst>
      <p:ext uri="{BB962C8B-B14F-4D97-AF65-F5344CB8AC3E}">
        <p14:creationId xmlns:p14="http://schemas.microsoft.com/office/powerpoint/2010/main" val="3907301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dessin humoristique, jouet&#10;&#10;Description générée automatiquement">
            <a:extLst>
              <a:ext uri="{FF2B5EF4-FFF2-40B4-BE49-F238E27FC236}">
                <a16:creationId xmlns:a16="http://schemas.microsoft.com/office/drawing/2014/main" id="{4401D4B2-0DFB-8E42-0B53-22F2455755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714875" cy="6858000"/>
          </a:xfrm>
          <a:prstGeom prst="rect">
            <a:avLst/>
          </a:prstGeom>
        </p:spPr>
      </p:pic>
      <p:cxnSp>
        <p:nvCxnSpPr>
          <p:cNvPr id="5" name="Connecteur droit 4">
            <a:extLst>
              <a:ext uri="{FF2B5EF4-FFF2-40B4-BE49-F238E27FC236}">
                <a16:creationId xmlns:a16="http://schemas.microsoft.com/office/drawing/2014/main" id="{48C5F3CD-C7C3-4341-8FC8-4374BE59F57C}"/>
              </a:ext>
            </a:extLst>
          </p:cNvPr>
          <p:cNvCxnSpPr/>
          <p:nvPr/>
        </p:nvCxnSpPr>
        <p:spPr>
          <a:xfrm>
            <a:off x="4714875" y="275303"/>
            <a:ext cx="0" cy="6056671"/>
          </a:xfrm>
          <a:prstGeom prst="line">
            <a:avLst/>
          </a:prstGeom>
          <a:ln>
            <a:solidFill>
              <a:srgbClr val="FFC000"/>
            </a:solidFill>
          </a:ln>
        </p:spPr>
        <p:style>
          <a:lnRef idx="3">
            <a:schemeClr val="accent6"/>
          </a:lnRef>
          <a:fillRef idx="0">
            <a:schemeClr val="accent6"/>
          </a:fillRef>
          <a:effectRef idx="2">
            <a:schemeClr val="accent6"/>
          </a:effectRef>
          <a:fontRef idx="minor">
            <a:schemeClr val="tx1"/>
          </a:fontRef>
        </p:style>
      </p:cxnSp>
      <p:sp>
        <p:nvSpPr>
          <p:cNvPr id="6" name="ZoneTexte 5">
            <a:extLst>
              <a:ext uri="{FF2B5EF4-FFF2-40B4-BE49-F238E27FC236}">
                <a16:creationId xmlns:a16="http://schemas.microsoft.com/office/drawing/2014/main" id="{1D2392A0-F26B-7B1E-3E5E-D5EB646A1C01}"/>
              </a:ext>
            </a:extLst>
          </p:cNvPr>
          <p:cNvSpPr txBox="1"/>
          <p:nvPr/>
        </p:nvSpPr>
        <p:spPr>
          <a:xfrm>
            <a:off x="6931742" y="383458"/>
            <a:ext cx="3578936" cy="369332"/>
          </a:xfrm>
          <a:prstGeom prst="rect">
            <a:avLst/>
          </a:prstGeom>
          <a:noFill/>
        </p:spPr>
        <p:txBody>
          <a:bodyPr wrap="square" rtlCol="0">
            <a:spAutoFit/>
          </a:bodyPr>
          <a:lstStyle/>
          <a:p>
            <a:pPr algn="ctr"/>
            <a:r>
              <a:rPr lang="fr-FR" b="1" dirty="0"/>
              <a:t>RÉFÉRENCES</a:t>
            </a:r>
            <a:r>
              <a:rPr lang="fr-FR" dirty="0"/>
              <a:t> </a:t>
            </a:r>
            <a:endParaRPr lang="fr-CA" dirty="0"/>
          </a:p>
        </p:txBody>
      </p:sp>
      <p:sp>
        <p:nvSpPr>
          <p:cNvPr id="7" name="ZoneTexte 6">
            <a:extLst>
              <a:ext uri="{FF2B5EF4-FFF2-40B4-BE49-F238E27FC236}">
                <a16:creationId xmlns:a16="http://schemas.microsoft.com/office/drawing/2014/main" id="{0E36152F-EB78-E6EC-FB25-95E03282A1E4}"/>
              </a:ext>
            </a:extLst>
          </p:cNvPr>
          <p:cNvSpPr txBox="1"/>
          <p:nvPr/>
        </p:nvSpPr>
        <p:spPr>
          <a:xfrm>
            <a:off x="5751872" y="1012954"/>
            <a:ext cx="5240592" cy="4185761"/>
          </a:xfrm>
          <a:prstGeom prst="rect">
            <a:avLst/>
          </a:prstGeom>
          <a:noFill/>
        </p:spPr>
        <p:txBody>
          <a:bodyPr wrap="square" rtlCol="0">
            <a:spAutoFit/>
          </a:bodyPr>
          <a:lstStyle/>
          <a:p>
            <a:pPr marL="457200" indent="-457200" algn="just"/>
            <a:r>
              <a:rPr lang="fr-CA" sz="1400" b="1" i="1" dirty="0">
                <a:effectLst/>
                <a:ea typeface="Times New Roman" panose="02020603050405020304" pitchFamily="18" charset="0"/>
              </a:rPr>
              <a:t>Construction d’un robot commandé par Arduino qui détecte et évite les obstacles</a:t>
            </a:r>
            <a:r>
              <a:rPr lang="fr-CA" sz="1400" b="1" dirty="0">
                <a:effectLst/>
                <a:ea typeface="Times New Roman" panose="02020603050405020304" pitchFamily="18" charset="0"/>
              </a:rPr>
              <a:t>. </a:t>
            </a:r>
            <a:r>
              <a:rPr lang="fr-CA" sz="1400" dirty="0">
                <a:effectLst/>
                <a:ea typeface="Times New Roman" panose="02020603050405020304" pitchFamily="18" charset="0"/>
              </a:rPr>
              <a:t>(s. d.). Construction D’un Robot Commandé Par Arduino Qui Détecte et Évite les Obstacles. https://www.robotique.tech/tutoriel/construction-dun-robot-commande-par-arduino-qui-detecte-et-evite-les-obstacles/</a:t>
            </a:r>
          </a:p>
          <a:p>
            <a:pPr marL="457200" indent="-457200" algn="just"/>
            <a:r>
              <a:rPr lang="fr-CA" sz="1400" dirty="0" err="1">
                <a:effectLst/>
                <a:ea typeface="Times New Roman" panose="02020603050405020304" pitchFamily="18" charset="0"/>
              </a:rPr>
              <a:t>Chakir</a:t>
            </a:r>
            <a:r>
              <a:rPr lang="fr-CA" sz="1400" dirty="0">
                <a:effectLst/>
                <a:ea typeface="Times New Roman" panose="02020603050405020304" pitchFamily="18" charset="0"/>
              </a:rPr>
              <a:t>, S., </a:t>
            </a:r>
            <a:r>
              <a:rPr lang="fr-CA" sz="1400" dirty="0" err="1">
                <a:effectLst/>
                <a:ea typeface="Times New Roman" panose="02020603050405020304" pitchFamily="18" charset="0"/>
              </a:rPr>
              <a:t>Taybi</a:t>
            </a:r>
            <a:r>
              <a:rPr lang="fr-CA" sz="1400" dirty="0">
                <a:effectLst/>
                <a:ea typeface="Times New Roman" panose="02020603050405020304" pitchFamily="18" charset="0"/>
              </a:rPr>
              <a:t>, A. O., &amp; </a:t>
            </a:r>
            <a:r>
              <a:rPr lang="fr-CA" sz="1400" dirty="0" err="1">
                <a:effectLst/>
                <a:ea typeface="Times New Roman" panose="02020603050405020304" pitchFamily="18" charset="0"/>
              </a:rPr>
              <a:t>Benaissat</a:t>
            </a:r>
            <a:r>
              <a:rPr lang="fr-CA" sz="1400" dirty="0">
                <a:effectLst/>
                <a:ea typeface="Times New Roman" panose="02020603050405020304" pitchFamily="18" charset="0"/>
              </a:rPr>
              <a:t>, A. (2020). </a:t>
            </a:r>
            <a:r>
              <a:rPr lang="fr-CA" sz="1400" b="1" dirty="0">
                <a:effectLst/>
                <a:ea typeface="Times New Roman" panose="02020603050405020304" pitchFamily="18" charset="0"/>
              </a:rPr>
              <a:t>Rapport de Mini projet : Robot </a:t>
            </a:r>
            <a:r>
              <a:rPr lang="fr-CA" sz="1400" b="1" dirty="0" err="1">
                <a:effectLst/>
                <a:ea typeface="Times New Roman" panose="02020603050405020304" pitchFamily="18" charset="0"/>
              </a:rPr>
              <a:t>Éviteur</a:t>
            </a:r>
            <a:r>
              <a:rPr lang="fr-CA" sz="1400" b="1" dirty="0">
                <a:effectLst/>
                <a:ea typeface="Times New Roman" panose="02020603050405020304" pitchFamily="18" charset="0"/>
              </a:rPr>
              <a:t> d’obstacles</a:t>
            </a:r>
            <a:r>
              <a:rPr lang="fr-CA" sz="1400" dirty="0">
                <a:effectLst/>
                <a:ea typeface="Times New Roman" panose="02020603050405020304" pitchFamily="18" charset="0"/>
              </a:rPr>
              <a:t>. </a:t>
            </a:r>
            <a:r>
              <a:rPr lang="en-CA" sz="1400" i="1" dirty="0">
                <a:effectLst/>
                <a:ea typeface="Times New Roman" panose="02020603050405020304" pitchFamily="18" charset="0"/>
              </a:rPr>
              <a:t>ResearchGate</a:t>
            </a:r>
            <a:r>
              <a:rPr lang="en-CA" sz="1400" dirty="0">
                <a:effectLst/>
                <a:ea typeface="Times New Roman" panose="02020603050405020304" pitchFamily="18" charset="0"/>
              </a:rPr>
              <a:t>. https://www.researchgate.net/publication/342282949_Rapport_de_Mini_projet_Robot_Eviteur_d'obstacles</a:t>
            </a:r>
            <a:endParaRPr lang="fr-CA" sz="1400" dirty="0">
              <a:effectLst/>
              <a:ea typeface="Times New Roman" panose="02020603050405020304" pitchFamily="18" charset="0"/>
            </a:endParaRPr>
          </a:p>
          <a:p>
            <a:pPr marL="457200" indent="-457200" algn="just"/>
            <a:r>
              <a:rPr lang="fr-CA" sz="1400" i="1" dirty="0">
                <a:effectLst/>
                <a:ea typeface="Times New Roman" panose="02020603050405020304" pitchFamily="18" charset="0"/>
              </a:rPr>
              <a:t>projets : </a:t>
            </a:r>
            <a:r>
              <a:rPr lang="fr-CA" sz="1400" i="1" dirty="0" err="1">
                <a:effectLst/>
                <a:ea typeface="Times New Roman" panose="02020603050405020304" pitchFamily="18" charset="0"/>
              </a:rPr>
              <a:t>robotarduino</a:t>
            </a:r>
            <a:r>
              <a:rPr lang="fr-CA" sz="1400" i="1" dirty="0">
                <a:effectLst/>
                <a:ea typeface="Times New Roman" panose="02020603050405020304" pitchFamily="18" charset="0"/>
              </a:rPr>
              <a:t> [Maison du Libre | Brest]</a:t>
            </a:r>
            <a:r>
              <a:rPr lang="fr-CA" sz="1400" dirty="0">
                <a:effectLst/>
                <a:ea typeface="Times New Roman" panose="02020603050405020304" pitchFamily="18" charset="0"/>
              </a:rPr>
              <a:t>. (s. d.). https://wiki.mdl29.net/doku.php?id=projets:robotarduino+</a:t>
            </a:r>
          </a:p>
          <a:p>
            <a:pPr marL="457200" indent="-457200" algn="just"/>
            <a:r>
              <a:rPr lang="en-CA" sz="1400" dirty="0">
                <a:effectLst/>
                <a:ea typeface="Times New Roman" panose="02020603050405020304" pitchFamily="18" charset="0"/>
              </a:rPr>
              <a:t>Muhammad Ansar. (2020, 4 </a:t>
            </a:r>
            <a:r>
              <a:rPr lang="en-CA" sz="1400" dirty="0" err="1">
                <a:effectLst/>
                <a:ea typeface="Times New Roman" panose="02020603050405020304" pitchFamily="18" charset="0"/>
              </a:rPr>
              <a:t>février</a:t>
            </a:r>
            <a:r>
              <a:rPr lang="en-CA" sz="1400" dirty="0">
                <a:effectLst/>
                <a:ea typeface="Times New Roman" panose="02020603050405020304" pitchFamily="18" charset="0"/>
              </a:rPr>
              <a:t>). </a:t>
            </a:r>
            <a:r>
              <a:rPr lang="en-CA" sz="1400" b="1" i="1" dirty="0">
                <a:effectLst/>
                <a:ea typeface="Times New Roman" panose="02020603050405020304" pitchFamily="18" charset="0"/>
              </a:rPr>
              <a:t>how to make an Obstacle Avoiding Robot using Arduino uno and L293d with HC sr04 Sensor</a:t>
            </a:r>
            <a:r>
              <a:rPr lang="en-CA" sz="1400" dirty="0">
                <a:effectLst/>
                <a:ea typeface="Times New Roman" panose="02020603050405020304" pitchFamily="18" charset="0"/>
              </a:rPr>
              <a:t> [</a:t>
            </a:r>
            <a:r>
              <a:rPr lang="en-CA" sz="1400" dirty="0" err="1">
                <a:effectLst/>
                <a:ea typeface="Times New Roman" panose="02020603050405020304" pitchFamily="18" charset="0"/>
              </a:rPr>
              <a:t>Vidéo</a:t>
            </a:r>
            <a:r>
              <a:rPr lang="en-CA" sz="1400" dirty="0">
                <a:effectLst/>
                <a:ea typeface="Times New Roman" panose="02020603050405020304" pitchFamily="18" charset="0"/>
              </a:rPr>
              <a:t>]. YouTube. https://www.youtube.com/watch?v=G0NQQ8GoSJU</a:t>
            </a:r>
            <a:endParaRPr lang="fr-CA" sz="1400" dirty="0">
              <a:effectLst/>
              <a:ea typeface="Times New Roman" panose="02020603050405020304" pitchFamily="18" charset="0"/>
            </a:endParaRPr>
          </a:p>
          <a:p>
            <a:pPr marL="457200" indent="-457200" algn="just"/>
            <a:r>
              <a:rPr lang="en-CA" sz="1400" dirty="0">
                <a:effectLst/>
                <a:ea typeface="Times New Roman" panose="02020603050405020304" pitchFamily="18" charset="0"/>
              </a:rPr>
              <a:t>Gold Screw. (2021, 26 </a:t>
            </a:r>
            <a:r>
              <a:rPr lang="en-CA" sz="1400" dirty="0" err="1">
                <a:effectLst/>
                <a:ea typeface="Times New Roman" panose="02020603050405020304" pitchFamily="18" charset="0"/>
              </a:rPr>
              <a:t>juin</a:t>
            </a:r>
            <a:r>
              <a:rPr lang="en-CA" sz="1400" dirty="0">
                <a:effectLst/>
                <a:ea typeface="Times New Roman" panose="02020603050405020304" pitchFamily="18" charset="0"/>
              </a:rPr>
              <a:t>). </a:t>
            </a:r>
            <a:r>
              <a:rPr lang="en-CA" sz="1400" b="1" i="1" dirty="0">
                <a:effectLst/>
                <a:ea typeface="Times New Roman" panose="02020603050405020304" pitchFamily="18" charset="0"/>
              </a:rPr>
              <a:t>Arduino Obstacle avoiding robot car 2WD with AA battery</a:t>
            </a:r>
            <a:r>
              <a:rPr lang="en-CA" sz="1400" b="1" dirty="0">
                <a:effectLst/>
                <a:ea typeface="Times New Roman" panose="02020603050405020304" pitchFamily="18" charset="0"/>
              </a:rPr>
              <a:t> </a:t>
            </a:r>
            <a:r>
              <a:rPr lang="en-CA" sz="1400" dirty="0">
                <a:effectLst/>
                <a:ea typeface="Times New Roman" panose="02020603050405020304" pitchFamily="18" charset="0"/>
              </a:rPr>
              <a:t>[</a:t>
            </a:r>
            <a:r>
              <a:rPr lang="en-CA" sz="1400" dirty="0" err="1">
                <a:effectLst/>
                <a:ea typeface="Times New Roman" panose="02020603050405020304" pitchFamily="18" charset="0"/>
              </a:rPr>
              <a:t>Vidéo</a:t>
            </a:r>
            <a:r>
              <a:rPr lang="en-CA" sz="1400" dirty="0">
                <a:effectLst/>
                <a:ea typeface="Times New Roman" panose="02020603050405020304" pitchFamily="18" charset="0"/>
              </a:rPr>
              <a:t>]. </a:t>
            </a:r>
            <a:r>
              <a:rPr lang="fr-CA" sz="1400" dirty="0">
                <a:effectLst/>
                <a:ea typeface="Times New Roman" panose="02020603050405020304" pitchFamily="18" charset="0"/>
              </a:rPr>
              <a:t>YouTube. https://www.youtube.com/watch?v=uj8q4F9O198</a:t>
            </a:r>
          </a:p>
        </p:txBody>
      </p:sp>
    </p:spTree>
    <p:extLst>
      <p:ext uri="{BB962C8B-B14F-4D97-AF65-F5344CB8AC3E}">
        <p14:creationId xmlns:p14="http://schemas.microsoft.com/office/powerpoint/2010/main" val="113671404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TotalTime>
  <Words>1273</Words>
  <Application>Microsoft Office PowerPoint</Application>
  <PresentationFormat>Grand écran</PresentationFormat>
  <Paragraphs>93</Paragraphs>
  <Slides>24</Slides>
  <Notes>0</Notes>
  <HiddenSlides>0</HiddenSlides>
  <MMClips>1</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24</vt:i4>
      </vt:variant>
    </vt:vector>
  </HeadingPairs>
  <TitlesOfParts>
    <vt:vector size="31" baseType="lpstr">
      <vt:lpstr>Aptos</vt:lpstr>
      <vt:lpstr>Aptos Display</vt:lpstr>
      <vt:lpstr>Arial</vt:lpstr>
      <vt:lpstr>Calibri</vt:lpstr>
      <vt:lpstr>Symbol</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Tahoc Wokam, Durrice Lea</dc:creator>
  <cp:lastModifiedBy>Léa Tahoc</cp:lastModifiedBy>
  <cp:revision>1</cp:revision>
  <dcterms:created xsi:type="dcterms:W3CDTF">2024-04-22T13:01:30Z</dcterms:created>
  <dcterms:modified xsi:type="dcterms:W3CDTF">2024-04-22T18:37:56Z</dcterms:modified>
</cp:coreProperties>
</file>